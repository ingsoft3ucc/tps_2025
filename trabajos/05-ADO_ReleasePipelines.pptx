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4" r:id="rId4"/>
  </p:sldMasterIdLst>
  <p:notesMasterIdLst>
    <p:notesMasterId r:id="rId15"/>
  </p:notesMasterIdLst>
  <p:handoutMasterIdLst>
    <p:handoutMasterId r:id="rId16"/>
  </p:handoutMasterIdLst>
  <p:sldIdLst>
    <p:sldId id="271" r:id="rId5"/>
    <p:sldId id="3807" r:id="rId6"/>
    <p:sldId id="3810" r:id="rId7"/>
    <p:sldId id="3811" r:id="rId8"/>
    <p:sldId id="3812" r:id="rId9"/>
    <p:sldId id="3813" r:id="rId10"/>
    <p:sldId id="3814" r:id="rId11"/>
    <p:sldId id="3815" r:id="rId12"/>
    <p:sldId id="3816" r:id="rId13"/>
    <p:sldId id="3817" r:id="rId14"/>
  </p:sldIdLst>
  <p:sldSz cx="12436475" cy="6994525"/>
  <p:notesSz cx="6858000" cy="9144000"/>
  <p:custDataLst>
    <p:tags r:id="rId17"/>
  </p:custDataLst>
  <p:defaultTextStyle>
    <a:defPPr>
      <a:defRPr lang="en-US"/>
    </a:defPPr>
    <a:lvl1pPr marL="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1pPr>
    <a:lvl2pPr marL="46634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2pPr>
    <a:lvl3pPr marL="93268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3pPr>
    <a:lvl4pPr marL="139903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4pPr>
    <a:lvl5pPr marL="1865376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5pPr>
    <a:lvl6pPr marL="233172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6pPr>
    <a:lvl7pPr marL="279806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7pPr>
    <a:lvl8pPr marL="326440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8pPr>
    <a:lvl9pPr marL="373075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lkIn" id="{0F194CA5-335B-4DD0-9814-D3878D9551B5}">
          <p14:sldIdLst>
            <p14:sldId id="271"/>
            <p14:sldId id="3807"/>
          </p14:sldIdLst>
        </p14:section>
        <p14:section name="Intro" id="{2CC52222-EEFB-42B6-90E5-8E2490915D26}">
          <p14:sldIdLst>
            <p14:sldId id="3810"/>
            <p14:sldId id="3811"/>
            <p14:sldId id="3812"/>
            <p14:sldId id="3813"/>
            <p14:sldId id="3814"/>
            <p14:sldId id="3815"/>
            <p14:sldId id="3816"/>
            <p14:sldId id="3817"/>
          </p14:sldIdLst>
        </p14:section>
        <p14:section name="Resources" id="{70880312-720E-4407-89FB-6858A2EF484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yne Meyer" initials="WM" lastIdx="4" clrIdx="0"/>
  <p:cmAuthor id="2" name="Nicolette Sharp (Prime 8)" initials="NS(8" lastIdx="4" clrIdx="1"/>
  <p:cmAuthor id="3" name="Sam Guckenheimer" initials="SG" lastIdx="2" clrIdx="2">
    <p:extLst>
      <p:ext uri="{19B8F6BF-5375-455C-9EA6-DF929625EA0E}">
        <p15:presenceInfo xmlns:p15="http://schemas.microsoft.com/office/powerpoint/2012/main" userId="S::samgu@microsoft.com::15ff1f82-b3d1-450b-8bfc-848e5572c8a8" providerId="AD"/>
      </p:ext>
    </p:extLst>
  </p:cmAuthor>
  <p:cmAuthor id="4" name="JUAN MANUEL RAFAEL FABIAN" initials="JMRF" lastIdx="1" clrIdx="3">
    <p:extLst>
      <p:ext uri="{19B8F6BF-5375-455C-9EA6-DF929625EA0E}">
        <p15:presenceInfo xmlns:p15="http://schemas.microsoft.com/office/powerpoint/2012/main" userId="dcb976eb587543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78D7"/>
    <a:srgbClr val="2560E0"/>
    <a:srgbClr val="CB2E6D"/>
    <a:srgbClr val="854CC7"/>
    <a:srgbClr val="D83B01"/>
    <a:srgbClr val="00B294"/>
    <a:srgbClr val="505050"/>
    <a:srgbClr val="797979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F8D3D-2A27-CA42-AEB3-24D8745736AA}" v="67" dt="2024-08-25T23:51:35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83836" autoAdjust="0"/>
  </p:normalViewPr>
  <p:slideViewPr>
    <p:cSldViewPr snapToGrid="0">
      <p:cViewPr varScale="1">
        <p:scale>
          <a:sx n="103" d="100"/>
          <a:sy n="103" d="100"/>
        </p:scale>
        <p:origin x="173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B4DFFC-B4E7-AD45-ACE5-CDFAB404B0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C4A65-5704-E546-A247-3E2210C03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27475" y="0"/>
            <a:ext cx="300513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50920-92A4-224B-9AE0-2C8C93DBE13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685E3-1FEC-754E-BA37-188D6CA3E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58238"/>
            <a:ext cx="3005138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ADD2A-87F8-4D4B-B9A4-FF48626831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27475" y="8758238"/>
            <a:ext cx="3005138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1726-3F9B-AA43-AF69-3C84FCFF341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26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1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5" y="0"/>
            <a:ext cx="3004820" cy="462611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68BF023B-10D3-4BAF-A407-4B4ABDDCF7D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1675" y="1152525"/>
            <a:ext cx="5530850" cy="3111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437221"/>
            <a:ext cx="5547360" cy="3630454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2610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5" y="8757590"/>
            <a:ext cx="3004820" cy="462610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3D7B9D4F-5F19-438C-92E8-037C6AE8F87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4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1pPr>
    <a:lvl2pPr marL="466344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2pPr>
    <a:lvl3pPr marL="932688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3pPr>
    <a:lvl4pPr marL="1399032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4pPr>
    <a:lvl5pPr marL="1865376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5pPr>
    <a:lvl6pPr marL="2331720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6pPr>
    <a:lvl7pPr marL="2798064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7pPr>
    <a:lvl8pPr marL="3264408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8pPr>
    <a:lvl9pPr marL="3730752" algn="l" defTabSz="932688" rtl="0" eaLnBrk="1" latinLnBrk="0" hangingPunct="1">
      <a:defRPr sz="12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50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B9D4F-5F19-438C-92E8-037C6AE8F8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17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48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33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64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99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3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1 Minuto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67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1 Minuto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05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1 Minuto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D3714-B553-A044-BA72-366907BA36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3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blue">
    <p:bg>
      <p:bgPr>
        <a:solidFill>
          <a:srgbClr val="02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73B716-5AC1-4E6F-99C0-F195B0C587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22" y="2590884"/>
            <a:ext cx="9590081" cy="1828800"/>
          </a:xfrm>
          <a:noFill/>
        </p:spPr>
        <p:txBody>
          <a:bodyPr lIns="0" tIns="0" rIns="0" bIns="182880" anchor="b" anchorCtr="0"/>
          <a:lstStyle>
            <a:lvl1pPr>
              <a:defRPr sz="5400" strike="noStrike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Azure DevOps presentation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8FD896-9F6B-4251-9F12-35FEF1AF74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22" y="4429278"/>
            <a:ext cx="9590081" cy="96425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spc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1F9C5D-BBFD-AE42-A1D5-DA2C27C2E9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48056"/>
            <a:ext cx="1362456" cy="19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9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BC1E75-E2E7-40DF-9B34-E7ECA97A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22" y="2590884"/>
            <a:ext cx="9590081" cy="1828800"/>
          </a:xfrm>
          <a:noFill/>
        </p:spPr>
        <p:txBody>
          <a:bodyPr lIns="0" tIns="0" rIns="0" bIns="182880" anchor="b" anchorCtr="0"/>
          <a:lstStyle>
            <a:lvl1pPr>
              <a:defRPr sz="5400" strike="noStrike" spc="-1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Azure DevOps presentation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1BFA596-B43C-4DAC-A798-0D495345CD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22" y="4429278"/>
            <a:ext cx="9590081" cy="96425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4442CC-A341-2548-8632-8304206EF6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48056"/>
            <a:ext cx="1362456" cy="19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98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MSFT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BC1E75-E2E7-40DF-9B34-E7ECA97A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3522" y="2590884"/>
            <a:ext cx="9590081" cy="1828800"/>
          </a:xfrm>
          <a:noFill/>
        </p:spPr>
        <p:txBody>
          <a:bodyPr lIns="0" tIns="0" rIns="0" bIns="182880" anchor="b" anchorCtr="0"/>
          <a:lstStyle>
            <a:lvl1pPr>
              <a:defRPr sz="5400" strike="noStrike" spc="-1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Azure DevOps presentation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1BFA596-B43C-4DAC-A798-0D495345CD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522" y="4429278"/>
            <a:ext cx="9590081" cy="96425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0372D-8606-427F-81BF-A215D788EA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46" y="257117"/>
            <a:ext cx="2009666" cy="73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1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 white Azure DevO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26A775-9A41-46BA-A0F5-6200093FC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839" y="2657790"/>
            <a:ext cx="4975275" cy="4270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532A61-7338-495C-8787-A222781205FF}"/>
              </a:ext>
            </a:extLst>
          </p:cNvPr>
          <p:cNvSpPr/>
          <p:nvPr userDrawn="1"/>
        </p:nvSpPr>
        <p:spPr bwMode="auto">
          <a:xfrm>
            <a:off x="434976" y="2170631"/>
            <a:ext cx="7627938" cy="36576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2028E2-C5DC-4CA9-88C9-D5024B2AD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988" y="2590884"/>
            <a:ext cx="7169406" cy="1828800"/>
          </a:xfrm>
          <a:noFill/>
        </p:spPr>
        <p:txBody>
          <a:bodyPr lIns="0" tIns="0" rIns="0" bIns="182880" anchor="b" anchorCtr="0"/>
          <a:lstStyle>
            <a:lvl1pPr>
              <a:defRPr sz="5400" strike="noStrike" spc="-1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Azure DevOps</a:t>
            </a:r>
            <a:br>
              <a:rPr lang="en-US" dirty="0"/>
            </a:br>
            <a:r>
              <a:rPr lang="en-US" dirty="0"/>
              <a:t>title or event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EFA9DF5-3A2A-422C-B2A6-A700C5CFD6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1988" y="4429278"/>
            <a:ext cx="6230328" cy="964256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F17F8D-94AF-494A-9DEA-6500CB1B690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448056"/>
            <a:ext cx="1362456" cy="19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71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8238" y="1212963"/>
            <a:ext cx="3694112" cy="463437"/>
          </a:xfrm>
        </p:spPr>
        <p:txBody>
          <a:bodyPr lIns="0" tIns="0" rIns="0" bIns="0"/>
          <a:lstStyle>
            <a:lvl1pPr>
              <a:defRPr sz="1800" b="1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408238" y="1679250"/>
            <a:ext cx="3694112" cy="3354708"/>
          </a:xfrm>
        </p:spPr>
        <p:txBody>
          <a:bodyPr wrap="square" lIns="0" tIns="0" rIns="0" bIns="0">
            <a:noAutofit/>
          </a:bodyPr>
          <a:lstStyle>
            <a:lvl1pPr marL="0" marR="0" indent="0" algn="l" defTabSz="5175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spc="0" baseline="0">
                <a:solidFill>
                  <a:schemeClr val="tx2"/>
                </a:solidFill>
                <a:latin typeface="+mn-lt"/>
              </a:defRPr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  <a:p>
            <a:pPr lvl="0"/>
            <a:r>
              <a:rPr lang="en-US"/>
              <a:t>##	Section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B79444-4BA3-4CE3-9F8D-00DECAF267EE}"/>
              </a:ext>
            </a:extLst>
          </p:cNvPr>
          <p:cNvGrpSpPr/>
          <p:nvPr userDrawn="1"/>
        </p:nvGrpSpPr>
        <p:grpSpPr>
          <a:xfrm>
            <a:off x="445128" y="6559056"/>
            <a:ext cx="11553197" cy="96950"/>
            <a:chOff x="445128" y="6559056"/>
            <a:chExt cx="11553197" cy="969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D886E38-6DEB-477A-985F-0D8CB205C5D0}"/>
                </a:ext>
              </a:extLst>
            </p:cNvPr>
            <p:cNvSpPr txBox="1"/>
            <p:nvPr userDrawn="1"/>
          </p:nvSpPr>
          <p:spPr>
            <a:xfrm>
              <a:off x="445128" y="6559056"/>
              <a:ext cx="984244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700">
                  <a:solidFill>
                    <a:schemeClr val="bg1">
                      <a:lumMod val="65000"/>
                    </a:schemeClr>
                  </a:solidFill>
                </a:rPr>
                <a:t>© Microsoft Corporation</a:t>
              </a:r>
              <a:endParaRPr lang="en-US" sz="8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9B269D-571A-44FF-AE48-CF094C28B01C}"/>
                </a:ext>
              </a:extLst>
            </p:cNvPr>
            <p:cNvSpPr/>
            <p:nvPr userDrawn="1"/>
          </p:nvSpPr>
          <p:spPr bwMode="auto"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635204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975" y="1142881"/>
            <a:ext cx="11567160" cy="1128514"/>
          </a:xfrm>
        </p:spPr>
        <p:txBody>
          <a:bodyPr wrap="square" lIns="0" tIns="0" rIns="0" bIns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800" b="1" i="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First level Segoe UI </a:t>
            </a:r>
            <a:r>
              <a:rPr lang="en-US" err="1"/>
              <a:t>Semibold</a:t>
            </a:r>
            <a:r>
              <a:rPr lang="en-US"/>
              <a:t> 18pt</a:t>
            </a:r>
          </a:p>
          <a:p>
            <a:pPr lvl="1"/>
            <a:r>
              <a:rPr lang="en-US"/>
              <a:t>Second level Segoe UI 18pt</a:t>
            </a:r>
          </a:p>
          <a:p>
            <a:pPr lvl="2"/>
            <a:r>
              <a:rPr lang="en-US"/>
              <a:t>Third level Segoe UI 14pt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36pt</a:t>
            </a:r>
          </a:p>
        </p:txBody>
      </p:sp>
    </p:spTree>
    <p:extLst>
      <p:ext uri="{BB962C8B-B14F-4D97-AF65-F5344CB8AC3E}">
        <p14:creationId xmlns:p14="http://schemas.microsoft.com/office/powerpoint/2010/main" val="19237159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ulle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087" y="1142881"/>
            <a:ext cx="11567160" cy="1128514"/>
          </a:xfrm>
        </p:spPr>
        <p:txBody>
          <a:bodyPr wrap="square" lIns="0" tIns="0" rIns="0" bIns="0">
            <a:sp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  <a:defRPr sz="1800" b="0" i="0">
                <a:solidFill>
                  <a:srgbClr val="000000"/>
                </a:solidFill>
                <a:latin typeface="+mj-lt"/>
              </a:defRPr>
            </a:lvl1pPr>
            <a:lvl2pPr marL="514350" indent="-28575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lvl2pPr>
            <a:lvl3pPr marL="742950" indent="-28575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First level Segoe UI </a:t>
            </a:r>
            <a:r>
              <a:rPr lang="en-US" err="1"/>
              <a:t>Semibold</a:t>
            </a:r>
            <a:r>
              <a:rPr lang="en-US"/>
              <a:t> 18pt</a:t>
            </a:r>
          </a:p>
          <a:p>
            <a:pPr lvl="1"/>
            <a:r>
              <a:rPr lang="en-US"/>
              <a:t>Second level Segoe UI 18pt</a:t>
            </a:r>
          </a:p>
          <a:p>
            <a:pPr lvl="2"/>
            <a:r>
              <a:rPr lang="en-US"/>
              <a:t>Third level Segoe UI 14pt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Heading Segoe UI </a:t>
            </a:r>
            <a:r>
              <a:rPr lang="en-US" err="1"/>
              <a:t>Semibold</a:t>
            </a:r>
            <a:r>
              <a:rPr lang="en-US"/>
              <a:t> 36pt (with bullets)</a:t>
            </a:r>
          </a:p>
        </p:txBody>
      </p:sp>
    </p:spTree>
    <p:extLst>
      <p:ext uri="{BB962C8B-B14F-4D97-AF65-F5344CB8AC3E}">
        <p14:creationId xmlns:p14="http://schemas.microsoft.com/office/powerpoint/2010/main" val="15387505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7311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36644903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087" y="1147079"/>
            <a:ext cx="11567160" cy="830997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 b="0" i="0">
                <a:solidFill>
                  <a:srgbClr val="000000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Three column text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975" y="2359342"/>
            <a:ext cx="3703320" cy="26543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FCB46-ABD2-4E30-8117-D04A48472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7211" y="2359342"/>
            <a:ext cx="3695700" cy="26543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9926" y="2359343"/>
            <a:ext cx="3703320" cy="265430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98556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975" y="1142881"/>
            <a:ext cx="11567160" cy="830997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i="0">
                <a:solidFill>
                  <a:srgbClr val="000000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Three column text layout (with bullets)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975" y="2356845"/>
            <a:ext cx="3703320" cy="26543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FCB46-ABD2-4E30-8117-D04A48472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7211" y="2356845"/>
            <a:ext cx="3695700" cy="26543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9926" y="2356844"/>
            <a:ext cx="3703320" cy="2663803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Body copy Segoe Regular 14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endParaRPr lang="en-US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/>
              <a:t>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7723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087" y="1137076"/>
            <a:ext cx="11567160" cy="830997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i="0">
                <a:solidFill>
                  <a:srgbClr val="000000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5109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Two column text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974" y="2359341"/>
            <a:ext cx="5667375" cy="265430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in.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127" y="2359342"/>
            <a:ext cx="5659119" cy="265430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in. </a:t>
            </a:r>
          </a:p>
        </p:txBody>
      </p:sp>
    </p:spTree>
    <p:extLst>
      <p:ext uri="{BB962C8B-B14F-4D97-AF65-F5344CB8AC3E}">
        <p14:creationId xmlns:p14="http://schemas.microsoft.com/office/powerpoint/2010/main" val="163014818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A83EF54-F800-4521-AA68-2B27B0B561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087" y="1137076"/>
            <a:ext cx="11567160" cy="830997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i="0">
                <a:solidFill>
                  <a:srgbClr val="000000"/>
                </a:solidFill>
                <a:latin typeface="+mn-lt"/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800">
                <a:solidFill>
                  <a:srgbClr val="000000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  <a:defRPr sz="1400">
                <a:solidFill>
                  <a:srgbClr val="000000"/>
                </a:solidFill>
              </a:defRPr>
            </a:lvl3pPr>
            <a:lvl4pPr marL="685800" indent="0">
              <a:spcBef>
                <a:spcPts val="0"/>
              </a:spcBef>
              <a:spcAft>
                <a:spcPts val="1300"/>
              </a:spcAft>
              <a:buNone/>
              <a:defRPr sz="2000"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Body copy Segoe Regular 18.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.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AE6F3ED0-7F59-40C0-BDE3-5E0443999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Two column text layout (with bullets)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849D465-70FF-451A-8BED-41C7ADC63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974" y="2359341"/>
            <a:ext cx="5667375" cy="2657138"/>
          </a:xfrm>
        </p:spPr>
        <p:txBody>
          <a:bodyPr lIns="0" tIns="0" rIns="0" bIns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b="1">
                <a:solidFill>
                  <a:schemeClr val="tx2"/>
                </a:solidFill>
                <a:latin typeface="+mn-lt"/>
              </a:defRPr>
            </a:lvl1pPr>
            <a:lvl2pPr marL="285750" marR="0" indent="-2857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</a:p>
          <a:p>
            <a:pPr lvl="1"/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 </a:t>
            </a:r>
          </a:p>
          <a:p>
            <a:pPr lvl="1"/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</a:t>
            </a:r>
          </a:p>
          <a:p>
            <a:pPr lvl="1"/>
            <a:r>
              <a:rPr lang="en-US"/>
              <a:t>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  <a:p>
            <a:pPr lvl="1"/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endParaRPr lang="en-US"/>
          </a:p>
          <a:p>
            <a:pPr lvl="1"/>
            <a:r>
              <a:rPr lang="en-US" err="1"/>
              <a:t>Pariatur</a:t>
            </a:r>
            <a:r>
              <a:rPr lang="en-US"/>
              <a:t>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</a:t>
            </a:r>
          </a:p>
          <a:p>
            <a:pPr lvl="1"/>
            <a:r>
              <a:rPr lang="en-US"/>
              <a:t>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 lorem ipsum dolor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6529D97-59E4-4F82-95B3-25E40D5A2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127" y="2359342"/>
            <a:ext cx="5659119" cy="265713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285750" marR="0" indent="-2857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</a:p>
          <a:p>
            <a:pPr lvl="1"/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 </a:t>
            </a:r>
          </a:p>
          <a:p>
            <a:pPr lvl="1"/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</a:t>
            </a:r>
          </a:p>
          <a:p>
            <a:pPr lvl="1"/>
            <a:r>
              <a:rPr lang="en-US"/>
              <a:t>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</a:t>
            </a:r>
          </a:p>
          <a:p>
            <a:pPr lvl="1"/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endParaRPr lang="en-US"/>
          </a:p>
          <a:p>
            <a:pPr lvl="1"/>
            <a:r>
              <a:rPr lang="en-US" err="1"/>
              <a:t>Pariatur</a:t>
            </a:r>
            <a:r>
              <a:rPr lang="en-US"/>
              <a:t>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</a:t>
            </a:r>
            <a:r>
              <a:rPr lang="en-US" err="1"/>
              <a:t>sunt</a:t>
            </a:r>
            <a:r>
              <a:rPr lang="en-US"/>
              <a:t> in</a:t>
            </a:r>
          </a:p>
          <a:p>
            <a:pPr lvl="1"/>
            <a:r>
              <a:rPr lang="en-US"/>
              <a:t>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 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142932401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434974" y="1203326"/>
            <a:ext cx="3705225" cy="2635250"/>
          </a:xfrm>
          <a:blipFill>
            <a:blip r:embed="rId2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 hasCustomPrompt="1"/>
          </p:nvPr>
        </p:nvSpPr>
        <p:spPr>
          <a:xfrm>
            <a:off x="4367214" y="1203326"/>
            <a:ext cx="3695700" cy="2635250"/>
          </a:xfrm>
          <a:blipFill>
            <a:blip r:embed="rId3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8289925" y="1203325"/>
            <a:ext cx="3706871" cy="2635251"/>
          </a:xfrm>
          <a:blipFill>
            <a:blip r:embed="rId4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34975" y="4065587"/>
            <a:ext cx="370332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minim. 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7211" y="4065587"/>
            <a:ext cx="369570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lang="en-US" sz="1400" b="1" kern="1200" spc="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minim. 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289926" y="4065587"/>
            <a:ext cx="370332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lang="en-US" sz="1400" b="1" kern="1200" spc="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Paragraph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minim. 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4138D0E-FA08-493B-A3B5-1ED81872AD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896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Three column photo layout</a:t>
            </a:r>
          </a:p>
        </p:txBody>
      </p:sp>
    </p:spTree>
    <p:extLst>
      <p:ext uri="{BB962C8B-B14F-4D97-AF65-F5344CB8AC3E}">
        <p14:creationId xmlns:p14="http://schemas.microsoft.com/office/powerpoint/2010/main" val="156032305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434974" y="1203326"/>
            <a:ext cx="3705225" cy="2635250"/>
          </a:xfrm>
          <a:blipFill>
            <a:blip r:embed="rId2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 hasCustomPrompt="1"/>
          </p:nvPr>
        </p:nvSpPr>
        <p:spPr>
          <a:xfrm>
            <a:off x="4367214" y="1203326"/>
            <a:ext cx="3695700" cy="2635250"/>
          </a:xfrm>
          <a:blipFill>
            <a:blip r:embed="rId3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6" hasCustomPrompt="1"/>
          </p:nvPr>
        </p:nvSpPr>
        <p:spPr>
          <a:xfrm>
            <a:off x="8289925" y="1203325"/>
            <a:ext cx="3706871" cy="2635251"/>
          </a:xfrm>
          <a:blipFill>
            <a:blip r:embed="rId4"/>
            <a:stretch>
              <a:fillRect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34975" y="4065588"/>
            <a:ext cx="370332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285750" marR="0" indent="-2857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lvl="1"/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367211" y="4065588"/>
            <a:ext cx="369570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lang="en-US" sz="1400" b="1" kern="1200" spc="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85750" marR="0" indent="-2857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lvl="1"/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8289926" y="4065588"/>
            <a:ext cx="3703320" cy="123825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lang="en-US" sz="1400" b="1" kern="1200" spc="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85750" marR="0" indent="-2857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endParaRPr lang="en-US"/>
          </a:p>
          <a:p>
            <a:pPr lvl="1"/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4138D0E-FA08-493B-A3B5-1ED81872AD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Three column photo layout (with bullets)</a:t>
            </a:r>
          </a:p>
        </p:txBody>
      </p:sp>
    </p:spTree>
    <p:extLst>
      <p:ext uri="{BB962C8B-B14F-4D97-AF65-F5344CB8AC3E}">
        <p14:creationId xmlns:p14="http://schemas.microsoft.com/office/powerpoint/2010/main" val="36842201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34975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 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4138D0E-FA08-493B-A3B5-1ED81872AD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5109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Six column text layout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536D72C-EFB8-4AA4-B6E9-DA9E980093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8352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 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C33CBA9-CFB9-46AA-8083-B5F0592E5B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61729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 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174EC55-6C81-4FBC-A5EF-0BD1F76D45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5106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 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5E1BEB93-4ED4-4262-A137-E9EF68ABBF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88483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 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5067E8C-7901-4F06-A33F-B8EFCB540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51862" y="1161415"/>
            <a:ext cx="1744663" cy="409845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 sz="1400" b="1">
                <a:solidFill>
                  <a:schemeClr val="tx2"/>
                </a:solidFill>
                <a:latin typeface="+mn-lt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400">
                <a:solidFill>
                  <a:srgbClr val="000000"/>
                </a:solidFill>
              </a:defRPr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Subhead title Segoe UI Regular bold 14</a:t>
            </a:r>
          </a:p>
          <a:p>
            <a:pPr lvl="1"/>
            <a:r>
              <a:rPr lang="en-US"/>
              <a:t>Body copy Segoe Regular 14.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4537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ligh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/>
          <p:cNvSpPr>
            <a:spLocks noGrp="1"/>
          </p:cNvSpPr>
          <p:nvPr>
            <p:ph type="title" hasCustomPrompt="1"/>
          </p:nvPr>
        </p:nvSpPr>
        <p:spPr>
          <a:xfrm>
            <a:off x="434976" y="1207895"/>
            <a:ext cx="7627938" cy="3605405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400" spc="-150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>
              <a:lnSpc>
                <a:spcPts val="5600"/>
              </a:lnSpc>
            </a:pPr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4B0E3-3622-4031-99D8-5297F3444C51}"/>
              </a:ext>
            </a:extLst>
          </p:cNvPr>
          <p:cNvGrpSpPr/>
          <p:nvPr userDrawn="1"/>
        </p:nvGrpSpPr>
        <p:grpSpPr>
          <a:xfrm>
            <a:off x="445128" y="6559056"/>
            <a:ext cx="11553197" cy="96950"/>
            <a:chOff x="445128" y="6559056"/>
            <a:chExt cx="11553197" cy="969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78EF51-FF7D-4AF0-A0D8-5E7897E42042}"/>
                </a:ext>
              </a:extLst>
            </p:cNvPr>
            <p:cNvSpPr txBox="1"/>
            <p:nvPr userDrawn="1"/>
          </p:nvSpPr>
          <p:spPr>
            <a:xfrm>
              <a:off x="445128" y="6559056"/>
              <a:ext cx="984244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700">
                  <a:solidFill>
                    <a:schemeClr val="bg1">
                      <a:lumMod val="65000"/>
                    </a:schemeClr>
                  </a:solidFill>
                </a:rPr>
                <a:t>© Microsoft Corporation</a:t>
              </a:r>
              <a:endParaRPr lang="en-US" sz="8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EEE5920-1AA1-47AD-AA2A-1027EA1027F4}"/>
                </a:ext>
              </a:extLst>
            </p:cNvPr>
            <p:cNvSpPr/>
            <p:nvPr userDrawn="1"/>
          </p:nvSpPr>
          <p:spPr bwMode="auto"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588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/>
          <p:cNvSpPr>
            <a:spLocks noGrp="1"/>
          </p:cNvSpPr>
          <p:nvPr>
            <p:ph type="title" hasCustomPrompt="1"/>
          </p:nvPr>
        </p:nvSpPr>
        <p:spPr>
          <a:xfrm>
            <a:off x="434976" y="1207895"/>
            <a:ext cx="7627938" cy="3605405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400" b="0" kern="1200" cap="none" spc="-1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lvl="0" algn="l" defTabSz="932742" rtl="0" eaLnBrk="1" latinLnBrk="0" hangingPunct="1">
              <a:lnSpc>
                <a:spcPts val="56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360E70-26C3-491B-876D-D6CA248B1D14}"/>
              </a:ext>
            </a:extLst>
          </p:cNvPr>
          <p:cNvGrpSpPr/>
          <p:nvPr userDrawn="1"/>
        </p:nvGrpSpPr>
        <p:grpSpPr>
          <a:xfrm>
            <a:off x="445128" y="6559056"/>
            <a:ext cx="11553197" cy="96950"/>
            <a:chOff x="445128" y="6559056"/>
            <a:chExt cx="11553197" cy="969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AF0965-A0E8-49A1-B8BF-778086ADF37B}"/>
                </a:ext>
              </a:extLst>
            </p:cNvPr>
            <p:cNvSpPr txBox="1"/>
            <p:nvPr userDrawn="1"/>
          </p:nvSpPr>
          <p:spPr>
            <a:xfrm>
              <a:off x="445128" y="6559056"/>
              <a:ext cx="984244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700">
                  <a:solidFill>
                    <a:schemeClr val="bg1">
                      <a:lumMod val="65000"/>
                    </a:schemeClr>
                  </a:solidFill>
                </a:rPr>
                <a:t>© Microsoft Corporation</a:t>
              </a:r>
              <a:endParaRPr lang="en-US" sz="8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1CC4C2-FC7A-4AE9-9B5E-C49482524E25}"/>
                </a:ext>
              </a:extLst>
            </p:cNvPr>
            <p:cNvSpPr/>
            <p:nvPr userDrawn="1"/>
          </p:nvSpPr>
          <p:spPr bwMode="auto"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79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5">
            <a:extLst>
              <a:ext uri="{FF2B5EF4-FFF2-40B4-BE49-F238E27FC236}">
                <a16:creationId xmlns:a16="http://schemas.microsoft.com/office/drawing/2014/main" id="{51E9DCD3-357B-4AF7-BDD2-18E09F714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6" y="1207895"/>
            <a:ext cx="7627938" cy="3605405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400" b="0" kern="1200" cap="none" spc="-1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lvl="0" algn="l" defTabSz="932742" rtl="0" eaLnBrk="1" latinLnBrk="0" hangingPunct="1">
              <a:lnSpc>
                <a:spcPts val="56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E73804-9B47-4D7E-8A36-A9DB54B0F2BB}"/>
              </a:ext>
            </a:extLst>
          </p:cNvPr>
          <p:cNvGrpSpPr/>
          <p:nvPr userDrawn="1"/>
        </p:nvGrpSpPr>
        <p:grpSpPr>
          <a:xfrm>
            <a:off x="445128" y="6559056"/>
            <a:ext cx="11553197" cy="96950"/>
            <a:chOff x="445128" y="6559056"/>
            <a:chExt cx="11553197" cy="969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E555FE-1A25-470F-9400-806E2FDA6E45}"/>
                </a:ext>
              </a:extLst>
            </p:cNvPr>
            <p:cNvSpPr txBox="1"/>
            <p:nvPr userDrawn="1"/>
          </p:nvSpPr>
          <p:spPr>
            <a:xfrm>
              <a:off x="445128" y="6559056"/>
              <a:ext cx="984244" cy="969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700">
                  <a:solidFill>
                    <a:schemeClr val="tx1"/>
                  </a:solidFill>
                </a:rPr>
                <a:t>© Microsoft Corporation</a:t>
              </a:r>
              <a:endParaRPr lang="en-US" sz="800">
                <a:solidFill>
                  <a:schemeClr val="tx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ADAB30E-A5BE-4BDE-8420-731E8A2CBAB7}"/>
                </a:ext>
              </a:extLst>
            </p:cNvPr>
            <p:cNvSpPr/>
            <p:nvPr userDrawn="1"/>
          </p:nvSpPr>
          <p:spPr bwMode="auto">
            <a:xfrm>
              <a:off x="11784176" y="6573241"/>
              <a:ext cx="214149" cy="61668"/>
            </a:xfrm>
            <a:custGeom>
              <a:avLst/>
              <a:gdLst/>
              <a:ahLst/>
              <a:cxnLst/>
              <a:rect l="l" t="t" r="r" b="b"/>
              <a:pathLst>
                <a:path w="306116" h="88152">
                  <a:moveTo>
                    <a:pt x="280481" y="31681"/>
                  </a:moveTo>
                  <a:cubicBezTo>
                    <a:pt x="275805" y="31681"/>
                    <a:pt x="271835" y="33354"/>
                    <a:pt x="268570" y="36700"/>
                  </a:cubicBezTo>
                  <a:cubicBezTo>
                    <a:pt x="265305" y="40045"/>
                    <a:pt x="263290" y="44419"/>
                    <a:pt x="262524" y="49820"/>
                  </a:cubicBezTo>
                  <a:lnTo>
                    <a:pt x="295959" y="49820"/>
                  </a:lnTo>
                  <a:cubicBezTo>
                    <a:pt x="295919" y="44096"/>
                    <a:pt x="294538" y="39642"/>
                    <a:pt x="291817" y="36458"/>
                  </a:cubicBezTo>
                  <a:cubicBezTo>
                    <a:pt x="289096" y="33273"/>
                    <a:pt x="285318" y="31681"/>
                    <a:pt x="280481" y="31681"/>
                  </a:cubicBezTo>
                  <a:close/>
                  <a:moveTo>
                    <a:pt x="140726" y="24789"/>
                  </a:moveTo>
                  <a:lnTo>
                    <a:pt x="150582" y="24789"/>
                  </a:lnTo>
                  <a:lnTo>
                    <a:pt x="150582" y="60219"/>
                  </a:lnTo>
                  <a:cubicBezTo>
                    <a:pt x="150582" y="73279"/>
                    <a:pt x="155580" y="79809"/>
                    <a:pt x="165576" y="79809"/>
                  </a:cubicBezTo>
                  <a:cubicBezTo>
                    <a:pt x="170413" y="79809"/>
                    <a:pt x="174393" y="78025"/>
                    <a:pt x="177517" y="74458"/>
                  </a:cubicBezTo>
                  <a:cubicBezTo>
                    <a:pt x="180641" y="70891"/>
                    <a:pt x="182203" y="66225"/>
                    <a:pt x="182203" y="60461"/>
                  </a:cubicBezTo>
                  <a:lnTo>
                    <a:pt x="182203" y="24789"/>
                  </a:lnTo>
                  <a:lnTo>
                    <a:pt x="192119" y="24789"/>
                  </a:lnTo>
                  <a:lnTo>
                    <a:pt x="192119" y="86701"/>
                  </a:lnTo>
                  <a:lnTo>
                    <a:pt x="182203" y="86701"/>
                  </a:lnTo>
                  <a:lnTo>
                    <a:pt x="182203" y="76906"/>
                  </a:lnTo>
                  <a:lnTo>
                    <a:pt x="181961" y="76906"/>
                  </a:lnTo>
                  <a:cubicBezTo>
                    <a:pt x="177850" y="84404"/>
                    <a:pt x="171481" y="88152"/>
                    <a:pt x="162855" y="88152"/>
                  </a:cubicBezTo>
                  <a:cubicBezTo>
                    <a:pt x="148103" y="88152"/>
                    <a:pt x="140726" y="79365"/>
                    <a:pt x="140726" y="61791"/>
                  </a:cubicBezTo>
                  <a:close/>
                  <a:moveTo>
                    <a:pt x="235093" y="23700"/>
                  </a:moveTo>
                  <a:cubicBezTo>
                    <a:pt x="237672" y="23700"/>
                    <a:pt x="239648" y="23983"/>
                    <a:pt x="241018" y="24547"/>
                  </a:cubicBezTo>
                  <a:lnTo>
                    <a:pt x="241018" y="34825"/>
                  </a:lnTo>
                  <a:cubicBezTo>
                    <a:pt x="239285" y="33495"/>
                    <a:pt x="236786" y="32830"/>
                    <a:pt x="233521" y="32830"/>
                  </a:cubicBezTo>
                  <a:cubicBezTo>
                    <a:pt x="229288" y="32830"/>
                    <a:pt x="225751" y="34825"/>
                    <a:pt x="222910" y="38816"/>
                  </a:cubicBezTo>
                  <a:cubicBezTo>
                    <a:pt x="220068" y="42806"/>
                    <a:pt x="218647" y="48248"/>
                    <a:pt x="218647" y="55140"/>
                  </a:cubicBezTo>
                  <a:lnTo>
                    <a:pt x="218647" y="86701"/>
                  </a:lnTo>
                  <a:lnTo>
                    <a:pt x="208732" y="86701"/>
                  </a:lnTo>
                  <a:lnTo>
                    <a:pt x="208732" y="24789"/>
                  </a:lnTo>
                  <a:lnTo>
                    <a:pt x="218647" y="24789"/>
                  </a:lnTo>
                  <a:lnTo>
                    <a:pt x="218647" y="37546"/>
                  </a:lnTo>
                  <a:lnTo>
                    <a:pt x="218889" y="37546"/>
                  </a:lnTo>
                  <a:cubicBezTo>
                    <a:pt x="220300" y="33193"/>
                    <a:pt x="222456" y="29797"/>
                    <a:pt x="225358" y="27358"/>
                  </a:cubicBezTo>
                  <a:cubicBezTo>
                    <a:pt x="228261" y="24920"/>
                    <a:pt x="231505" y="23700"/>
                    <a:pt x="235093" y="23700"/>
                  </a:cubicBezTo>
                  <a:close/>
                  <a:moveTo>
                    <a:pt x="280662" y="23338"/>
                  </a:moveTo>
                  <a:cubicBezTo>
                    <a:pt x="288764" y="23338"/>
                    <a:pt x="295032" y="25958"/>
                    <a:pt x="299466" y="31198"/>
                  </a:cubicBezTo>
                  <a:cubicBezTo>
                    <a:pt x="303899" y="36438"/>
                    <a:pt x="306116" y="43713"/>
                    <a:pt x="306116" y="53024"/>
                  </a:cubicBezTo>
                  <a:lnTo>
                    <a:pt x="306116" y="58224"/>
                  </a:lnTo>
                  <a:lnTo>
                    <a:pt x="262403" y="58224"/>
                  </a:lnTo>
                  <a:cubicBezTo>
                    <a:pt x="262564" y="65117"/>
                    <a:pt x="264418" y="70437"/>
                    <a:pt x="267965" y="74186"/>
                  </a:cubicBezTo>
                  <a:cubicBezTo>
                    <a:pt x="271512" y="77934"/>
                    <a:pt x="276390" y="79809"/>
                    <a:pt x="282597" y="79809"/>
                  </a:cubicBezTo>
                  <a:cubicBezTo>
                    <a:pt x="289570" y="79809"/>
                    <a:pt x="295979" y="77511"/>
                    <a:pt x="301824" y="72916"/>
                  </a:cubicBezTo>
                  <a:lnTo>
                    <a:pt x="301824" y="82227"/>
                  </a:lnTo>
                  <a:cubicBezTo>
                    <a:pt x="296382" y="86177"/>
                    <a:pt x="289187" y="88152"/>
                    <a:pt x="280239" y="88152"/>
                  </a:cubicBezTo>
                  <a:cubicBezTo>
                    <a:pt x="271492" y="88152"/>
                    <a:pt x="264620" y="85341"/>
                    <a:pt x="259622" y="79718"/>
                  </a:cubicBezTo>
                  <a:cubicBezTo>
                    <a:pt x="254623" y="74095"/>
                    <a:pt x="252124" y="66185"/>
                    <a:pt x="252124" y="55987"/>
                  </a:cubicBezTo>
                  <a:cubicBezTo>
                    <a:pt x="252124" y="46353"/>
                    <a:pt x="254855" y="38503"/>
                    <a:pt x="260317" y="32437"/>
                  </a:cubicBezTo>
                  <a:cubicBezTo>
                    <a:pt x="265778" y="26371"/>
                    <a:pt x="272560" y="23338"/>
                    <a:pt x="280662" y="23338"/>
                  </a:cubicBezTo>
                  <a:close/>
                  <a:moveTo>
                    <a:pt x="38212" y="10520"/>
                  </a:moveTo>
                  <a:cubicBezTo>
                    <a:pt x="37809" y="12979"/>
                    <a:pt x="37345" y="14913"/>
                    <a:pt x="36821" y="16324"/>
                  </a:cubicBezTo>
                  <a:lnTo>
                    <a:pt x="23338" y="53266"/>
                  </a:lnTo>
                  <a:lnTo>
                    <a:pt x="53388" y="53266"/>
                  </a:lnTo>
                  <a:lnTo>
                    <a:pt x="39784" y="16324"/>
                  </a:lnTo>
                  <a:cubicBezTo>
                    <a:pt x="39340" y="15115"/>
                    <a:pt x="38897" y="13180"/>
                    <a:pt x="38454" y="10520"/>
                  </a:cubicBezTo>
                  <a:close/>
                  <a:moveTo>
                    <a:pt x="33254" y="0"/>
                  </a:moveTo>
                  <a:lnTo>
                    <a:pt x="43774" y="0"/>
                  </a:lnTo>
                  <a:lnTo>
                    <a:pt x="76865" y="85964"/>
                  </a:lnTo>
                  <a:lnTo>
                    <a:pt x="76865" y="83618"/>
                  </a:lnTo>
                  <a:lnTo>
                    <a:pt x="113505" y="33253"/>
                  </a:lnTo>
                  <a:lnTo>
                    <a:pt x="80312" y="33253"/>
                  </a:lnTo>
                  <a:lnTo>
                    <a:pt x="80312" y="24789"/>
                  </a:lnTo>
                  <a:lnTo>
                    <a:pt x="128076" y="24789"/>
                  </a:lnTo>
                  <a:lnTo>
                    <a:pt x="128076" y="27630"/>
                  </a:lnTo>
                  <a:lnTo>
                    <a:pt x="91436" y="78237"/>
                  </a:lnTo>
                  <a:lnTo>
                    <a:pt x="127713" y="78237"/>
                  </a:lnTo>
                  <a:lnTo>
                    <a:pt x="127713" y="86701"/>
                  </a:lnTo>
                  <a:lnTo>
                    <a:pt x="77149" y="86701"/>
                  </a:lnTo>
                  <a:lnTo>
                    <a:pt x="76865" y="86701"/>
                  </a:lnTo>
                  <a:lnTo>
                    <a:pt x="65903" y="86701"/>
                  </a:lnTo>
                  <a:lnTo>
                    <a:pt x="56713" y="62396"/>
                  </a:lnTo>
                  <a:lnTo>
                    <a:pt x="19952" y="62396"/>
                  </a:lnTo>
                  <a:lnTo>
                    <a:pt x="11306" y="86701"/>
                  </a:lnTo>
                  <a:lnTo>
                    <a:pt x="0" y="8670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08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FBA475-1622-4E42-8C0A-6A71410B5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436475" cy="6995024"/>
          </a:xfrm>
          <a:prstGeom prst="rect">
            <a:avLst/>
          </a:prstGeom>
        </p:spPr>
      </p:pic>
      <p:sp>
        <p:nvSpPr>
          <p:cNvPr id="5" name="Title 35">
            <a:extLst>
              <a:ext uri="{FF2B5EF4-FFF2-40B4-BE49-F238E27FC236}">
                <a16:creationId xmlns:a16="http://schemas.microsoft.com/office/drawing/2014/main" id="{8441881C-06B8-4CD2-ADC6-DFD3519E6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6" y="1207895"/>
            <a:ext cx="7627938" cy="3605405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en-US" sz="5400" b="0" kern="1200" cap="none" spc="-1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lvl="0" algn="l" defTabSz="932742" rtl="0" eaLnBrk="1" latinLnBrk="0" hangingPunct="1">
              <a:lnSpc>
                <a:spcPts val="5600"/>
              </a:lnSpc>
              <a:spcBef>
                <a:spcPct val="0"/>
              </a:spcBef>
              <a:buNone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54889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14287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blue">
    <p:bg>
      <p:bgPr>
        <a:solidFill>
          <a:srgbClr val="02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688BD8D-D2E4-4DFC-B39C-D55D84362354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37086" y="6444246"/>
            <a:ext cx="4572000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5A989-B33D-A043-A074-7F6AD654A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3264408"/>
            <a:ext cx="3209809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88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dark gray">
    <p:bg>
      <p:bgPr>
        <a:solidFill>
          <a:srgbClr val="353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F3523A4C-09FD-49AC-AA6D-1A6E7B7893EE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37086" y="6444246"/>
            <a:ext cx="4572000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E7C5A-6554-964E-83C8-1AB5178180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7" y="3264408"/>
            <a:ext cx="3209809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74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702" y="1211287"/>
            <a:ext cx="11888787" cy="54848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795403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6CB2-3771-4ADD-A627-914030C613EC}" type="datetimeFigureOut">
              <a:rPr lang="es-AR" smtClean="0"/>
              <a:pPr/>
              <a:t>31/8/25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02056-5213-4551-87DF-DD83DCF69E6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8099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684673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562D5679-B66F-A244-9E94-0FFE5F1B6168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6102350" y="1203325"/>
            <a:ext cx="5895975" cy="3831241"/>
          </a:xfrm>
        </p:spPr>
        <p:txBody>
          <a:bodyPr anchor="ctr">
            <a:noAutofit/>
          </a:bodyPr>
          <a:lstStyle>
            <a:lvl1pPr algn="ctr">
              <a:defRPr sz="1800" b="1">
                <a:latin typeface="+mn-lt"/>
              </a:defRPr>
            </a:lvl1pPr>
          </a:lstStyle>
          <a:p>
            <a:r>
              <a:rPr lang="en-US"/>
              <a:t>Drop photo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4975" y="1167645"/>
            <a:ext cx="5241206" cy="2624741"/>
          </a:xfrm>
        </p:spPr>
        <p:txBody>
          <a:bodyPr wrap="square" lIns="0" tIns="0" rIns="0" bIns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b="0" i="0">
                <a:solidFill>
                  <a:srgbClr val="000000"/>
                </a:solidFill>
                <a:latin typeface="+mn-lt"/>
              </a:defRPr>
            </a:lvl1pPr>
            <a:lvl2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pt-BR"/>
              <a:t>Subhead Segoe UI 28pt</a:t>
            </a:r>
          </a:p>
          <a:p>
            <a:pPr lvl="0"/>
            <a:r>
              <a:rPr lang="pt-BR"/>
              <a:t>Subhead Segoe UI 28pt</a:t>
            </a:r>
          </a:p>
          <a:p>
            <a:pPr lvl="0"/>
            <a:r>
              <a:rPr lang="pt-BR"/>
              <a:t>Subhead Segoe UI 28pt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60CBD1C-0AFE-4EB9-94D7-943981FE0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75" y="227014"/>
            <a:ext cx="11563350" cy="754061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Device layout</a:t>
            </a:r>
          </a:p>
        </p:txBody>
      </p:sp>
    </p:spTree>
    <p:extLst>
      <p:ext uri="{BB962C8B-B14F-4D97-AF65-F5344CB8AC3E}">
        <p14:creationId xmlns:p14="http://schemas.microsoft.com/office/powerpoint/2010/main" val="273072478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C9B1B5-B09F-4B98-AFC2-1B4B55BE018E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 rot="5400000">
            <a:off x="9226488" y="3280851"/>
            <a:ext cx="6994525" cy="43282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4975" y="228573"/>
            <a:ext cx="11563350" cy="758825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46088" y="1132205"/>
            <a:ext cx="11563350" cy="2072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951596" y="3071982"/>
            <a:ext cx="6995160" cy="8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72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5" r:id="rId2"/>
    <p:sldLayoutId id="2147483896" r:id="rId3"/>
    <p:sldLayoutId id="2147483884" r:id="rId4"/>
    <p:sldLayoutId id="2147483868" r:id="rId5"/>
    <p:sldLayoutId id="2147483869" r:id="rId6"/>
    <p:sldLayoutId id="2147483885" r:id="rId7"/>
    <p:sldLayoutId id="2147483871" r:id="rId8"/>
    <p:sldLayoutId id="2147483886" r:id="rId9"/>
    <p:sldLayoutId id="2147483887" r:id="rId10"/>
    <p:sldLayoutId id="2147483888" r:id="rId11"/>
    <p:sldLayoutId id="2147483889" r:id="rId12"/>
    <p:sldLayoutId id="2147483873" r:id="rId13"/>
    <p:sldLayoutId id="2147483890" r:id="rId14"/>
    <p:sldLayoutId id="2147483891" r:id="rId15"/>
    <p:sldLayoutId id="2147483878" r:id="rId16"/>
    <p:sldLayoutId id="2147483892" r:id="rId17"/>
    <p:sldLayoutId id="2147483879" r:id="rId18"/>
    <p:sldLayoutId id="2147483880" r:id="rId19"/>
    <p:sldLayoutId id="2147483881" r:id="rId20"/>
    <p:sldLayoutId id="2147483883" r:id="rId21"/>
    <p:sldLayoutId id="2147483882" r:id="rId22"/>
    <p:sldLayoutId id="2147483903" r:id="rId23"/>
    <p:sldLayoutId id="2147483904" r:id="rId24"/>
    <p:sldLayoutId id="2147483905" r:id="rId25"/>
    <p:sldLayoutId id="2147483906" r:id="rId2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3600" b="0" kern="1200" cap="none" spc="-1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1400"/>
        </a:spcAft>
        <a:buClrTx/>
        <a:buSzPct val="90000"/>
        <a:buFont typeface="Wingdings" panose="05000000000000000000" pitchFamily="2" charset="2"/>
        <a:buNone/>
        <a:tabLst/>
        <a:defRPr sz="2800" kern="1200" spc="0" baseline="0">
          <a:solidFill>
            <a:srgbClr val="000000"/>
          </a:solidFill>
          <a:latin typeface="+mn-lt"/>
          <a:ea typeface="+mn-ea"/>
          <a:cs typeface="+mn-cs"/>
        </a:defRPr>
      </a:lvl1pPr>
      <a:lvl2pPr marL="22860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140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45720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140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68580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140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91440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1400"/>
        </a:spcAft>
        <a:buClrTx/>
        <a:buSzPct val="90000"/>
        <a:buFont typeface="Wingdings" panose="05000000000000000000" pitchFamily="2" charset="2"/>
        <a:buNone/>
        <a:tabLst/>
        <a:defRPr sz="1400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373">
          <p15:clr>
            <a:srgbClr val="C35EA4"/>
          </p15:clr>
        </p15:guide>
        <p15:guide id="4" pos="1517">
          <p15:clr>
            <a:srgbClr val="C35EA4"/>
          </p15:clr>
        </p15:guide>
        <p15:guide id="5" pos="2608">
          <p15:clr>
            <a:srgbClr val="C35EA4"/>
          </p15:clr>
        </p15:guide>
        <p15:guide id="6" pos="2751">
          <p15:clr>
            <a:srgbClr val="C35EA4"/>
          </p15:clr>
        </p15:guide>
        <p15:guide id="7" pos="3844">
          <p15:clr>
            <a:srgbClr val="C35EA4"/>
          </p15:clr>
        </p15:guide>
        <p15:guide id="8" pos="3989">
          <p15:clr>
            <a:srgbClr val="C35EA4"/>
          </p15:clr>
        </p15:guide>
        <p15:guide id="9" pos="5079">
          <p15:clr>
            <a:srgbClr val="C35EA4"/>
          </p15:clr>
        </p15:guide>
        <p15:guide id="10" pos="5222">
          <p15:clr>
            <a:srgbClr val="C35EA4"/>
          </p15:clr>
        </p15:guide>
        <p15:guide id="11" pos="6317">
          <p15:clr>
            <a:srgbClr val="C35EA4"/>
          </p15:clr>
        </p15:guide>
        <p15:guide id="12" pos="6460">
          <p15:clr>
            <a:srgbClr val="C35EA4"/>
          </p15:clr>
        </p15:guide>
        <p15:guide id="16" pos="274">
          <p15:clr>
            <a:srgbClr val="F26B43"/>
          </p15:clr>
        </p15:guide>
        <p15:guide id="17" pos="7558">
          <p15:clr>
            <a:srgbClr val="F26B43"/>
          </p15:clr>
        </p15:guide>
        <p15:guide id="18" orient="horz" pos="758">
          <p15:clr>
            <a:srgbClr val="5ACBF0"/>
          </p15:clr>
        </p15:guide>
        <p15:guide id="19" orient="horz" pos="1372">
          <p15:clr>
            <a:srgbClr val="5ACBF0"/>
          </p15:clr>
        </p15:guide>
        <p15:guide id="20" orient="horz" pos="612">
          <p15:clr>
            <a:srgbClr val="5ACBF0"/>
          </p15:clr>
        </p15:guide>
        <p15:guide id="21" orient="horz" pos="1515">
          <p15:clr>
            <a:srgbClr val="5ACBF0"/>
          </p15:clr>
        </p15:guide>
        <p15:guide id="22" orient="horz" pos="2127">
          <p15:clr>
            <a:srgbClr val="5ACBF0"/>
          </p15:clr>
        </p15:guide>
        <p15:guide id="23" orient="horz" pos="2275">
          <p15:clr>
            <a:srgbClr val="5ACBF0"/>
          </p15:clr>
        </p15:guide>
        <p15:guide id="25" orient="horz" pos="280">
          <p15:clr>
            <a:srgbClr val="F26B43"/>
          </p15:clr>
        </p15:guide>
        <p15:guide id="26" orient="horz" pos="4127">
          <p15:clr>
            <a:srgbClr val="F26B43"/>
          </p15:clr>
        </p15:guide>
        <p15:guide id="27" orient="horz" pos="2889">
          <p15:clr>
            <a:srgbClr val="5ACBF0"/>
          </p15:clr>
        </p15:guide>
        <p15:guide id="28" orient="horz" pos="3032">
          <p15:clr>
            <a:srgbClr val="5ACBF0"/>
          </p15:clr>
        </p15:guide>
        <p15:guide id="29" orient="horz" pos="3648">
          <p15:clr>
            <a:srgbClr val="5ACBF0"/>
          </p15:clr>
        </p15:guide>
        <p15:guide id="30" orient="horz" pos="3792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www.linkedin.com/in/arielschwindt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benalexkeen.com/creating-end-to-end-mlops-pipelines-using-azure-ml-and-azure-pipelines-part-1/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flaticon.es/icono-gratis/resultados_5521257" TargetMode="External"/><Relationship Id="rId5" Type="http://schemas.openxmlformats.org/officeDocument/2006/relationships/image" Target="../media/image15.png"/><Relationship Id="rId10" Type="http://schemas.openxmlformats.org/officeDocument/2006/relationships/hyperlink" Target="https://aderal.es/estrategias-de-marketing-y-transformacion-digital/7-consejos-para-lograr-la-eficiencia-en-tu-empresa/" TargetMode="External"/><Relationship Id="rId4" Type="http://schemas.openxmlformats.org/officeDocument/2006/relationships/hyperlink" Target="https://www.pngall.com/target-png/" TargetMode="External"/><Relationship Id="rId9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deral.es/estrategias-de-marketing-y-transformacion-digital/7-consejos-para-lograr-la-eficiencia-en-tu-empresa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benalexkeen.com/creating-end-to-end-mlops-pipelines-using-azure-ml-and-azure-pipelines-part-1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flaticon.es/icono-gratis/resultados_552125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benalexkeen.com/creating-end-to-end-mlops-pipelines-using-azure-ml-and-azure-pipelines-part-1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pngall.com/electronic-png/download/24930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benalexkeen.com/creating-end-to-end-mlops-pipelines-using-azure-ml-and-azure-pipelines-part-1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flaticon.es/icono-gratis/resultados_5521257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benalexkeen.com/creating-end-to-end-mlops-pipelines-using-azure-ml-and-azure-pipelines-part-1/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flaticon.es/icono-gratis/resultados_552125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clipground.com/demo-icon-clipart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www.pngall.com/flask-pn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www.freepik.es/vector-premium/gente-haciendo-preguntas-ilustracion-estilo-plano_13851379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2" y="-1"/>
            <a:ext cx="12434710" cy="6994525"/>
          </a:xfrm>
        </p:spPr>
      </p:pic>
      <p:sp>
        <p:nvSpPr>
          <p:cNvPr id="5" name="4 CuadroTexto"/>
          <p:cNvSpPr txBox="1"/>
          <p:nvPr/>
        </p:nvSpPr>
        <p:spPr>
          <a:xfrm>
            <a:off x="4259797" y="2713887"/>
            <a:ext cx="4112724" cy="159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64" b="1" dirty="0">
                <a:solidFill>
                  <a:schemeClr val="bg1"/>
                </a:solidFill>
                <a:latin typeface="Raleway" pitchFamily="2" charset="77"/>
              </a:rPr>
              <a:t>TP 05: Azure DevOps CI/CD Pipelines</a:t>
            </a:r>
          </a:p>
        </p:txBody>
      </p:sp>
    </p:spTree>
    <p:extLst>
      <p:ext uri="{BB962C8B-B14F-4D97-AF65-F5344CB8AC3E}">
        <p14:creationId xmlns:p14="http://schemas.microsoft.com/office/powerpoint/2010/main" val="331005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7F0D34-EFFF-4AB0-B1A5-04DB58CD5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773" y="1085197"/>
            <a:ext cx="6722168" cy="5771282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39BCE6D-6848-DA16-7D8C-F63A17A9173E}"/>
              </a:ext>
            </a:extLst>
          </p:cNvPr>
          <p:cNvSpPr txBox="1">
            <a:spLocks/>
          </p:cNvSpPr>
          <p:nvPr/>
        </p:nvSpPr>
        <p:spPr>
          <a:xfrm>
            <a:off x="2045632" y="3594610"/>
            <a:ext cx="6061922" cy="20000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45720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56" b="1" dirty="0"/>
              <a:t>Ing. Ariel </a:t>
            </a:r>
            <a:r>
              <a:rPr lang="en-US" sz="2856" b="1" dirty="0" err="1"/>
              <a:t>Schwindt</a:t>
            </a:r>
            <a:endParaRPr lang="en-US" sz="2856" b="1" dirty="0"/>
          </a:p>
          <a:p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https://www.linkedin.com/in/arielschwindt/</a:t>
            </a:r>
            <a:b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Microsoft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Certified</a:t>
            </a: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Trainer</a:t>
            </a:r>
            <a:endParaRPr lang="es-AR" sz="1836" dirty="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br>
              <a:rPr lang="en-US" sz="2856" b="1" dirty="0"/>
            </a:b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MS Certified DevOps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Engineer</a:t>
            </a: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Expert</a:t>
            </a:r>
          </a:p>
          <a:p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MS Certified Azure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Developer</a:t>
            </a: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Associate</a:t>
            </a:r>
            <a:endParaRPr lang="es-AR" sz="1836" dirty="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MS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Certified</a:t>
            </a: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Azure AI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Engineer</a:t>
            </a:r>
            <a:r>
              <a:rPr lang="es-AR" sz="1836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AR" sz="1836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Associate</a:t>
            </a:r>
            <a:endParaRPr lang="es-AR" sz="1836" dirty="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s-AR" sz="1836" dirty="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s-AR" sz="2040" dirty="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FC118B3-8ACB-948B-9B19-4C9BD98FF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49" y="4887937"/>
            <a:ext cx="1073227" cy="105563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33B920A-3652-2EAE-AFAA-71BA7E2219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49" y="3594610"/>
            <a:ext cx="1151323" cy="1186932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B1A4DB33-3F27-2444-E5C7-627F14099E66}"/>
              </a:ext>
            </a:extLst>
          </p:cNvPr>
          <p:cNvSpPr/>
          <p:nvPr/>
        </p:nvSpPr>
        <p:spPr>
          <a:xfrm>
            <a:off x="467184" y="298911"/>
            <a:ext cx="1745642" cy="669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873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B44C9EB-D0D8-5A04-E70E-FDD694AB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49" y="2091540"/>
            <a:ext cx="9590081" cy="1828800"/>
          </a:xfrm>
        </p:spPr>
        <p:txBody>
          <a:bodyPr/>
          <a:lstStyle/>
          <a:p>
            <a:r>
              <a:rPr lang="en-US" dirty="0"/>
              <a:t>Azure DevOps </a:t>
            </a:r>
            <a:br>
              <a:rPr lang="en-US" dirty="0"/>
            </a:br>
            <a:r>
              <a:rPr lang="en-US" dirty="0"/>
              <a:t>Pipelines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227014"/>
            <a:ext cx="11563350" cy="754061"/>
          </a:xfrm>
        </p:spPr>
        <p:txBody>
          <a:bodyPr/>
          <a:lstStyle/>
          <a:p>
            <a:r>
              <a:rPr lang="es-AR" dirty="0"/>
              <a:t>Objetivo de la Sesión</a:t>
            </a:r>
            <a:endParaRPr lang="en-US" dirty="0">
              <a:solidFill>
                <a:srgbClr val="2C65E1"/>
              </a:solidFill>
            </a:endParaRPr>
          </a:p>
        </p:txBody>
      </p:sp>
      <p:pic>
        <p:nvPicPr>
          <p:cNvPr id="26" name="Graphic 25" descr="Icono de dardos dando en el centro">
            <a:extLst>
              <a:ext uri="{FF2B5EF4-FFF2-40B4-BE49-F238E27FC236}">
                <a16:creationId xmlns:a16="http://schemas.microsoft.com/office/drawing/2014/main" id="{DD05F76C-076B-4F26-9D9C-A6FD3BD3F1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9986267" y="167565"/>
            <a:ext cx="2176810" cy="159722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D34CA-2892-4FF4-9588-C6A35829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129" y="972295"/>
            <a:ext cx="9541138" cy="544162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Comprender el concepto de recurso en Azure 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Comprender los conceptos básicos de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Release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Pipelines en Azure DevOps.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Configurar un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Release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Pipeline para automatizar despliegues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Publicar una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WebAPI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.NET Core en un recurso Web App de Azure en diferentes entornos (QA y PROD) usando Azure DevOps.</a:t>
            </a:r>
          </a:p>
          <a:p>
            <a:pPr marL="285750" indent="-2857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Demostración práctica paso a paso.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AB4B1E4-ACC7-113A-534F-D5AA9F02CFF7}"/>
              </a:ext>
            </a:extLst>
          </p:cNvPr>
          <p:cNvGrpSpPr/>
          <p:nvPr/>
        </p:nvGrpSpPr>
        <p:grpSpPr>
          <a:xfrm>
            <a:off x="228981" y="3208070"/>
            <a:ext cx="555298" cy="555298"/>
            <a:chOff x="167479" y="1848020"/>
            <a:chExt cx="555298" cy="55529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03B4F4-BD54-418F-ABEC-9DA56768E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7479" y="1848020"/>
              <a:ext cx="555298" cy="555298"/>
            </a:xfrm>
            <a:prstGeom prst="ellipse">
              <a:avLst/>
            </a:prstGeom>
            <a:solidFill>
              <a:srgbClr val="EAEAE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Graphic 25" descr="Icono de Resultados">
              <a:extLst>
                <a:ext uri="{FF2B5EF4-FFF2-40B4-BE49-F238E27FC236}">
                  <a16:creationId xmlns:a16="http://schemas.microsoft.com/office/drawing/2014/main" id="{F45F61C2-0DBB-978B-E41A-359C1B3BCE9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/>
            <a:stretch/>
          </p:blipFill>
          <p:spPr>
            <a:xfrm>
              <a:off x="296953" y="1971462"/>
              <a:ext cx="290276" cy="290276"/>
            </a:xfrm>
            <a:prstGeom prst="rect">
              <a:avLst/>
            </a:prstGeom>
          </p:spPr>
        </p:pic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4DBB1B5-01F5-4F72-64C8-516A2B7B7E57}"/>
              </a:ext>
            </a:extLst>
          </p:cNvPr>
          <p:cNvSpPr txBox="1"/>
          <p:nvPr/>
        </p:nvSpPr>
        <p:spPr>
          <a:xfrm>
            <a:off x="845233" y="3224879"/>
            <a:ext cx="6387125" cy="5447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Resultados Esperados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ADA1BEB-7AB9-A07A-E33E-E9D2A4C28C38}"/>
              </a:ext>
            </a:extLst>
          </p:cNvPr>
          <p:cNvSpPr txBox="1"/>
          <p:nvPr/>
        </p:nvSpPr>
        <p:spPr>
          <a:xfrm>
            <a:off x="845781" y="3621911"/>
            <a:ext cx="6699087" cy="2234458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>
                <a:solidFill>
                  <a:srgbClr val="595959"/>
                </a:solidFill>
              </a:defRPr>
            </a:lvl1pPr>
          </a:lstStyle>
          <a:p>
            <a:r>
              <a:rPr lang="es-AR" dirty="0"/>
              <a:t>Al final de la sesión, los participantes deben ser capaces de:</a:t>
            </a:r>
            <a:br>
              <a:rPr lang="es-AR" dirty="0"/>
            </a:br>
            <a:endParaRPr lang="es-A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Crear un recurso </a:t>
            </a:r>
            <a:r>
              <a:rPr lang="es-AR" dirty="0" err="1"/>
              <a:t>WebApp</a:t>
            </a:r>
            <a:r>
              <a:rPr lang="es-AR" dirty="0"/>
              <a:t> en Azure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Clonarlo usando plantillas ARM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Crear y gestionar un pipeline de </a:t>
            </a:r>
            <a:r>
              <a:rPr lang="es-AR" dirty="0" err="1"/>
              <a:t>release</a:t>
            </a:r>
            <a:r>
              <a:rPr lang="es-AR" dirty="0"/>
              <a:t> en Azure DevOps.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Diferenciar los entornos de despliegue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Conocer las distintas alternativas de pre y post </a:t>
            </a:r>
            <a:r>
              <a:rPr lang="es-AR" dirty="0" err="1"/>
              <a:t>approvement</a:t>
            </a:r>
            <a:r>
              <a:rPr lang="es-AR" dirty="0"/>
              <a:t> y Gates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Aplicar configuraciones adicionales para personalizar y mejorar sus pipelines de </a:t>
            </a:r>
            <a:r>
              <a:rPr lang="es-AR" dirty="0" err="1"/>
              <a:t>build</a:t>
            </a:r>
            <a:r>
              <a:rPr lang="es-AR" dirty="0"/>
              <a:t>.</a:t>
            </a:r>
          </a:p>
        </p:txBody>
      </p:sp>
      <p:pic>
        <p:nvPicPr>
          <p:cNvPr id="28" name="Graphic 25" descr="Icono de Azure Pipelines">
            <a:extLst>
              <a:ext uri="{FF2B5EF4-FFF2-40B4-BE49-F238E27FC236}">
                <a16:creationId xmlns:a16="http://schemas.microsoft.com/office/drawing/2014/main" id="{4F6F6AF2-D26A-BB39-E6FC-F96FF9095E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7544868" y="2548188"/>
            <a:ext cx="4455706" cy="1258081"/>
          </a:xfrm>
          <a:prstGeom prst="rect">
            <a:avLst/>
          </a:prstGeom>
        </p:spPr>
      </p:pic>
      <p:pic>
        <p:nvPicPr>
          <p:cNvPr id="27" name="Graphic 25" descr="Una persona progresando y siendo mas eficiente">
            <a:extLst>
              <a:ext uri="{FF2B5EF4-FFF2-40B4-BE49-F238E27FC236}">
                <a16:creationId xmlns:a16="http://schemas.microsoft.com/office/drawing/2014/main" id="{975A696A-357B-CDC2-EC30-B52A59713E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/>
        </p:blipFill>
        <p:spPr>
          <a:xfrm>
            <a:off x="7544868" y="3992642"/>
            <a:ext cx="4455706" cy="222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5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227014"/>
            <a:ext cx="11563350" cy="754061"/>
          </a:xfrm>
        </p:spPr>
        <p:txBody>
          <a:bodyPr/>
          <a:lstStyle/>
          <a:p>
            <a:r>
              <a:rPr lang="es-AR" dirty="0"/>
              <a:t>Qué es un </a:t>
            </a:r>
            <a:r>
              <a:rPr lang="es-AR" dirty="0" err="1"/>
              <a:t>Release</a:t>
            </a:r>
            <a:r>
              <a:rPr lang="es-AR" dirty="0"/>
              <a:t> Pipeline?</a:t>
            </a:r>
            <a:endParaRPr lang="en-US" dirty="0">
              <a:solidFill>
                <a:srgbClr val="2C65E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D34CA-2892-4FF4-9588-C6A35829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129" y="972295"/>
            <a:ext cx="9541138" cy="544162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Proceso automatizado para desplegar aplicaciones en diferentes entornos (desarrollo, pruebas, producción).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AB4B1E4-ACC7-113A-534F-D5AA9F02CFF7}"/>
              </a:ext>
            </a:extLst>
          </p:cNvPr>
          <p:cNvGrpSpPr/>
          <p:nvPr/>
        </p:nvGrpSpPr>
        <p:grpSpPr>
          <a:xfrm>
            <a:off x="434975" y="1853832"/>
            <a:ext cx="555298" cy="555298"/>
            <a:chOff x="167479" y="1848020"/>
            <a:chExt cx="555298" cy="55529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03B4F4-BD54-418F-ABEC-9DA56768E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7479" y="1848020"/>
              <a:ext cx="555298" cy="555298"/>
            </a:xfrm>
            <a:prstGeom prst="ellipse">
              <a:avLst/>
            </a:prstGeom>
            <a:solidFill>
              <a:srgbClr val="EAEAE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Graphic 25" descr="Icono de Resultados">
              <a:extLst>
                <a:ext uri="{FF2B5EF4-FFF2-40B4-BE49-F238E27FC236}">
                  <a16:creationId xmlns:a16="http://schemas.microsoft.com/office/drawing/2014/main" id="{F45F61C2-0DBB-978B-E41A-359C1B3BCE9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/>
          </p:blipFill>
          <p:spPr>
            <a:xfrm>
              <a:off x="296953" y="1971462"/>
              <a:ext cx="290276" cy="290276"/>
            </a:xfrm>
            <a:prstGeom prst="rect">
              <a:avLst/>
            </a:prstGeom>
          </p:spPr>
        </p:pic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4DBB1B5-01F5-4F72-64C8-516A2B7B7E57}"/>
              </a:ext>
            </a:extLst>
          </p:cNvPr>
          <p:cNvSpPr txBox="1"/>
          <p:nvPr/>
        </p:nvSpPr>
        <p:spPr>
          <a:xfrm>
            <a:off x="1051227" y="1870641"/>
            <a:ext cx="6387125" cy="5447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Beneficios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ADA1BEB-7AB9-A07A-E33E-E9D2A4C28C38}"/>
              </a:ext>
            </a:extLst>
          </p:cNvPr>
          <p:cNvSpPr txBox="1"/>
          <p:nvPr/>
        </p:nvSpPr>
        <p:spPr>
          <a:xfrm>
            <a:off x="1051775" y="2267673"/>
            <a:ext cx="6699087" cy="335784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>
                <a:solidFill>
                  <a:srgbClr val="595959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Consistencia en despliegues.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Reducción de errores humanos.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Aceleración del proceso de entrega.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Trazabilidad y Auditoría.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 err="1"/>
              <a:t>Rollback</a:t>
            </a:r>
            <a:r>
              <a:rPr lang="es-AR" dirty="0"/>
              <a:t> Automatizado.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Integración con </a:t>
            </a:r>
            <a:r>
              <a:rPr lang="es-AR" dirty="0" err="1"/>
              <a:t>Testing</a:t>
            </a:r>
            <a:r>
              <a:rPr lang="es-AR" dirty="0"/>
              <a:t> Automatizado.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Control de Aprobaciones.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Escalabilidad.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Notificaciones y Alertas.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Mejora de la Colaboración.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Estandarización del Proceso de Despliegue.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Ahorro de Tiempo y Costos.</a:t>
            </a:r>
          </a:p>
        </p:txBody>
      </p:sp>
      <p:pic>
        <p:nvPicPr>
          <p:cNvPr id="28" name="Graphic 25" descr="Icono de Azure Pipelines">
            <a:extLst>
              <a:ext uri="{FF2B5EF4-FFF2-40B4-BE49-F238E27FC236}">
                <a16:creationId xmlns:a16="http://schemas.microsoft.com/office/drawing/2014/main" id="{4F6F6AF2-D26A-BB39-E6FC-F96FF9095E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9491986" y="59882"/>
            <a:ext cx="2670634" cy="754061"/>
          </a:xfrm>
          <a:prstGeom prst="rect">
            <a:avLst/>
          </a:prstGeom>
        </p:spPr>
      </p:pic>
      <p:pic>
        <p:nvPicPr>
          <p:cNvPr id="27" name="Graphic 25" descr="Una persona progresando y siendo mas eficiente">
            <a:extLst>
              <a:ext uri="{FF2B5EF4-FFF2-40B4-BE49-F238E27FC236}">
                <a16:creationId xmlns:a16="http://schemas.microsoft.com/office/drawing/2014/main" id="{975A696A-357B-CDC2-EC30-B52A59713E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7438352" y="2522657"/>
            <a:ext cx="4455706" cy="222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0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227014"/>
            <a:ext cx="11563350" cy="754061"/>
          </a:xfrm>
        </p:spPr>
        <p:txBody>
          <a:bodyPr/>
          <a:lstStyle/>
          <a:p>
            <a:r>
              <a:rPr lang="es-AR" dirty="0"/>
              <a:t>Componentes de un </a:t>
            </a:r>
            <a:r>
              <a:rPr lang="es-AR" dirty="0" err="1"/>
              <a:t>Release</a:t>
            </a:r>
            <a:r>
              <a:rPr lang="es-AR" dirty="0"/>
              <a:t> Pipeline</a:t>
            </a:r>
            <a:endParaRPr lang="en-US" dirty="0">
              <a:solidFill>
                <a:srgbClr val="2C65E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03B4F4-BD54-418F-ABEC-9DA56768E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4975" y="981075"/>
            <a:ext cx="555298" cy="555298"/>
          </a:xfrm>
          <a:prstGeom prst="ellipse">
            <a:avLst/>
          </a:prstGeom>
          <a:solidFill>
            <a:srgbClr val="EAEAE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F45F61C2-0DBB-978B-E41A-359C1B3BCE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564449" y="1104517"/>
            <a:ext cx="290276" cy="290276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E4DBB1B5-01F5-4F72-64C8-516A2B7B7E57}"/>
              </a:ext>
            </a:extLst>
          </p:cNvPr>
          <p:cNvSpPr txBox="1"/>
          <p:nvPr/>
        </p:nvSpPr>
        <p:spPr>
          <a:xfrm>
            <a:off x="1051227" y="997884"/>
            <a:ext cx="6387125" cy="5447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Componentes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ADA1BEB-7AB9-A07A-E33E-E9D2A4C28C38}"/>
              </a:ext>
            </a:extLst>
          </p:cNvPr>
          <p:cNvSpPr txBox="1"/>
          <p:nvPr/>
        </p:nvSpPr>
        <p:spPr>
          <a:xfrm>
            <a:off x="1051775" y="1394916"/>
            <a:ext cx="6447531" cy="5712333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>
                <a:solidFill>
                  <a:srgbClr val="595959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 err="1"/>
              <a:t>Triggers</a:t>
            </a:r>
            <a:r>
              <a:rPr lang="es-AR" sz="1400" b="1" dirty="0"/>
              <a:t> (Desencadenadores):</a:t>
            </a:r>
            <a:br>
              <a:rPr lang="es-AR" sz="1400" b="1" dirty="0"/>
            </a:br>
            <a:r>
              <a:rPr lang="es-AR" sz="1400" dirty="0"/>
              <a:t>Configuración que define cuándo se inicia el pipeline de </a:t>
            </a:r>
            <a:r>
              <a:rPr lang="es-AR" sz="1400" dirty="0" err="1"/>
              <a:t>release</a:t>
            </a:r>
            <a:r>
              <a:rPr lang="es-AR" sz="1400" dirty="0"/>
              <a:t> (por ejemplo, al publicar un nuevo artefacto desde un </a:t>
            </a:r>
            <a:r>
              <a:rPr lang="es-AR" sz="1400" dirty="0" err="1"/>
              <a:t>build</a:t>
            </a:r>
            <a:r>
              <a:rPr lang="es-AR" sz="1400" dirty="0"/>
              <a:t>).</a:t>
            </a:r>
            <a:endParaRPr lang="es-AR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/>
              <a:t>Artefactos:</a:t>
            </a:r>
            <a:r>
              <a:rPr lang="es-AR" sz="1400" dirty="0"/>
              <a:t> </a:t>
            </a:r>
            <a:br>
              <a:rPr lang="es-AR" sz="1400" dirty="0"/>
            </a:br>
            <a:r>
              <a:rPr lang="es-AR" sz="1400" dirty="0"/>
              <a:t>Resultado del proceso de </a:t>
            </a:r>
            <a:r>
              <a:rPr lang="es-AR" sz="1400" dirty="0" err="1"/>
              <a:t>build</a:t>
            </a:r>
            <a:r>
              <a:rPr lang="es-AR" sz="1400" dirty="0"/>
              <a:t> (por ejemplo, archivos .zip, contenedores Docker, etc.).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 err="1"/>
              <a:t>Stages</a:t>
            </a:r>
            <a:r>
              <a:rPr lang="es-AR" sz="1400" b="1" dirty="0"/>
              <a:t> (Etapas):</a:t>
            </a:r>
            <a:br>
              <a:rPr lang="es-AR" sz="1400" b="1" dirty="0"/>
            </a:br>
            <a:r>
              <a:rPr lang="es-AR" sz="1400" dirty="0"/>
              <a:t>Secuencia de entornos por los que pasa el despliegue (Desarrollo, Pruebas, Producción). Cada </a:t>
            </a:r>
            <a:r>
              <a:rPr lang="es-AR" sz="1400" dirty="0" err="1"/>
              <a:t>stage</a:t>
            </a:r>
            <a:r>
              <a:rPr lang="es-AR" sz="1400" dirty="0"/>
              <a:t> puede tener diferentes tareas y configuraciones.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 err="1"/>
              <a:t>Tasks</a:t>
            </a:r>
            <a:r>
              <a:rPr lang="es-AR" sz="1400" b="1" dirty="0"/>
              <a:t> (Tareas):</a:t>
            </a:r>
            <a:br>
              <a:rPr lang="es-AR" sz="1400" b="1" dirty="0"/>
            </a:br>
            <a:r>
              <a:rPr lang="es-AR" sz="1400" dirty="0"/>
              <a:t>Acciones individuales dentro de una etapa (por ejemplo, copiar archivos, ejecutar scripts, desplegar a una Web App).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/>
              <a:t>Gates (Puertas):</a:t>
            </a:r>
            <a:br>
              <a:rPr lang="es-AR" sz="1400" b="1" dirty="0"/>
            </a:br>
            <a:r>
              <a:rPr lang="es-AR" sz="1400" dirty="0"/>
              <a:t>Evaluaciones automáticas que deben cumplirse antes de proceder a la siguiente etapa.</a:t>
            </a:r>
            <a:br>
              <a:rPr lang="es-AR" sz="1400" dirty="0"/>
            </a:br>
            <a:r>
              <a:rPr lang="es-AR" sz="1400" dirty="0"/>
              <a:t>Pueden incluir verificaciones de métricas, resultados de pruebas, o consultas a servicios externos.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 err="1"/>
              <a:t>Approvals</a:t>
            </a:r>
            <a:r>
              <a:rPr lang="es-AR" sz="1400" b="1" dirty="0"/>
              <a:t> (Aprobaciones):</a:t>
            </a:r>
            <a:br>
              <a:rPr lang="es-AR" sz="1400" b="1" dirty="0"/>
            </a:br>
            <a:r>
              <a:rPr lang="es-AR" sz="1400" dirty="0"/>
              <a:t>Permiten control manual antes de avanzar a la siguiente etapa.</a:t>
            </a:r>
            <a:br>
              <a:rPr lang="es-AR" sz="1400" dirty="0"/>
            </a:br>
            <a:r>
              <a:rPr lang="es-AR" sz="1400" dirty="0"/>
              <a:t>Útil para entornos críticos como producción.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400" b="1" dirty="0"/>
              <a:t>Variables:</a:t>
            </a:r>
            <a:br>
              <a:rPr lang="es-AR" sz="1400" b="1" dirty="0"/>
            </a:br>
            <a:r>
              <a:rPr lang="es-AR" sz="1400" dirty="0"/>
              <a:t>Parámetros que pueden usarse en diferentes etapas y tareas.</a:t>
            </a:r>
            <a:br>
              <a:rPr lang="es-AR" sz="1400" dirty="0"/>
            </a:br>
            <a:r>
              <a:rPr lang="es-AR" sz="1400" dirty="0"/>
              <a:t>Facilitan la gestión de configuraciones y credenciales sensibles.</a:t>
            </a:r>
          </a:p>
        </p:txBody>
      </p:sp>
      <p:pic>
        <p:nvPicPr>
          <p:cNvPr id="28" name="Graphic 25" descr="Icono de Azure Pipelines">
            <a:extLst>
              <a:ext uri="{FF2B5EF4-FFF2-40B4-BE49-F238E27FC236}">
                <a16:creationId xmlns:a16="http://schemas.microsoft.com/office/drawing/2014/main" id="{4F6F6AF2-D26A-BB39-E6FC-F96FF9095E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9491986" y="59882"/>
            <a:ext cx="2670634" cy="7540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0C49392-891D-E382-8D45-94B346640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352" y="2986269"/>
            <a:ext cx="4826425" cy="23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0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227014"/>
            <a:ext cx="11563350" cy="754061"/>
          </a:xfrm>
        </p:spPr>
        <p:txBody>
          <a:bodyPr/>
          <a:lstStyle/>
          <a:p>
            <a:r>
              <a:rPr lang="es-AR" dirty="0"/>
              <a:t>Escenario de Ejemplo</a:t>
            </a:r>
            <a:endParaRPr lang="en-US" dirty="0">
              <a:solidFill>
                <a:srgbClr val="2C65E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D34CA-2892-4FF4-9588-C6A35829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129" y="972295"/>
            <a:ext cx="9541138" cy="544162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Desplegar la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WebAPI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 una Web App de Azure.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AB4B1E4-ACC7-113A-534F-D5AA9F02CFF7}"/>
              </a:ext>
            </a:extLst>
          </p:cNvPr>
          <p:cNvGrpSpPr/>
          <p:nvPr/>
        </p:nvGrpSpPr>
        <p:grpSpPr>
          <a:xfrm>
            <a:off x="434975" y="1437164"/>
            <a:ext cx="555298" cy="555298"/>
            <a:chOff x="167479" y="1848020"/>
            <a:chExt cx="555298" cy="55529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03B4F4-BD54-418F-ABEC-9DA56768E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7479" y="1848020"/>
              <a:ext cx="555298" cy="555298"/>
            </a:xfrm>
            <a:prstGeom prst="ellipse">
              <a:avLst/>
            </a:prstGeom>
            <a:solidFill>
              <a:srgbClr val="EAEAE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Graphic 25" descr="Icono de Resultados">
              <a:extLst>
                <a:ext uri="{FF2B5EF4-FFF2-40B4-BE49-F238E27FC236}">
                  <a16:creationId xmlns:a16="http://schemas.microsoft.com/office/drawing/2014/main" id="{F45F61C2-0DBB-978B-E41A-359C1B3BCE9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/>
          </p:blipFill>
          <p:spPr>
            <a:xfrm>
              <a:off x="296953" y="1971462"/>
              <a:ext cx="290276" cy="290276"/>
            </a:xfrm>
            <a:prstGeom prst="rect">
              <a:avLst/>
            </a:prstGeom>
          </p:spPr>
        </p:pic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4DBB1B5-01F5-4F72-64C8-516A2B7B7E57}"/>
              </a:ext>
            </a:extLst>
          </p:cNvPr>
          <p:cNvSpPr txBox="1"/>
          <p:nvPr/>
        </p:nvSpPr>
        <p:spPr>
          <a:xfrm>
            <a:off x="1051227" y="1453973"/>
            <a:ext cx="6387125" cy="5447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Pasos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ADA1BEB-7AB9-A07A-E33E-E9D2A4C28C38}"/>
              </a:ext>
            </a:extLst>
          </p:cNvPr>
          <p:cNvSpPr txBox="1"/>
          <p:nvPr/>
        </p:nvSpPr>
        <p:spPr>
          <a:xfrm>
            <a:off x="1051775" y="1851005"/>
            <a:ext cx="8115374" cy="471205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>
                <a:solidFill>
                  <a:srgbClr val="595959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Tener una </a:t>
            </a:r>
            <a:r>
              <a:rPr lang="es-AR" dirty="0" err="1"/>
              <a:t>WebAPI</a:t>
            </a:r>
            <a:r>
              <a:rPr lang="es-AR" dirty="0"/>
              <a:t> .NET lista para desplegar.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Cuenta de Azure con permisos para crear recursos.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Web App creada en Azure para hospedar la </a:t>
            </a:r>
            <a:r>
              <a:rPr lang="es-AR" dirty="0" err="1"/>
              <a:t>WebAPI</a:t>
            </a:r>
            <a:r>
              <a:rPr lang="es-A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Configuración de un Pipeline de </a:t>
            </a:r>
            <a:r>
              <a:rPr lang="es-AR" dirty="0" err="1"/>
              <a:t>build</a:t>
            </a:r>
            <a:r>
              <a:rPr lang="es-AR" dirty="0"/>
              <a:t> que genere un artefacto (archivo .zip o carpeta con la API compilada).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Crear un nuevo </a:t>
            </a:r>
            <a:r>
              <a:rPr lang="es-AR" dirty="0" err="1"/>
              <a:t>Release</a:t>
            </a:r>
            <a:r>
              <a:rPr lang="es-AR" dirty="0"/>
              <a:t> Pipeline: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Navegar a Azure DevOps -&gt; Pipelines -&gt; </a:t>
            </a:r>
            <a:r>
              <a:rPr lang="es-AR" sz="1200" dirty="0" err="1">
                <a:solidFill>
                  <a:schemeClr val="accent6"/>
                </a:solidFill>
              </a:rPr>
              <a:t>Releases</a:t>
            </a:r>
            <a:r>
              <a:rPr lang="es-AR" sz="1200" dirty="0">
                <a:solidFill>
                  <a:schemeClr val="accent6"/>
                </a:solidFill>
              </a:rPr>
              <a:t>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Seleccionar "New pipeline".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Elegir una plantilla de despliegue: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Usar la plantilla "Azure App </a:t>
            </a:r>
            <a:r>
              <a:rPr lang="es-AR" sz="1200" dirty="0" err="1">
                <a:solidFill>
                  <a:schemeClr val="accent6"/>
                </a:solidFill>
              </a:rPr>
              <a:t>Service</a:t>
            </a:r>
            <a:r>
              <a:rPr lang="es-AR" sz="1200" dirty="0">
                <a:solidFill>
                  <a:schemeClr val="accent6"/>
                </a:solidFill>
              </a:rPr>
              <a:t> </a:t>
            </a:r>
            <a:r>
              <a:rPr lang="es-AR" sz="1200" dirty="0" err="1">
                <a:solidFill>
                  <a:schemeClr val="accent6"/>
                </a:solidFill>
              </a:rPr>
              <a:t>deployment</a:t>
            </a:r>
            <a:r>
              <a:rPr lang="es-AR" sz="1200" dirty="0">
                <a:solidFill>
                  <a:schemeClr val="accent6"/>
                </a:solidFill>
              </a:rPr>
              <a:t>".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Definir el artefacto: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Conectar el </a:t>
            </a:r>
            <a:r>
              <a:rPr lang="es-AR" sz="1200" dirty="0" err="1">
                <a:solidFill>
                  <a:schemeClr val="accent6"/>
                </a:solidFill>
              </a:rPr>
              <a:t>Release</a:t>
            </a:r>
            <a:r>
              <a:rPr lang="es-AR" sz="1200" dirty="0">
                <a:solidFill>
                  <a:schemeClr val="accent6"/>
                </a:solidFill>
              </a:rPr>
              <a:t> Pipeline al artefacto generado en el Pipeline de </a:t>
            </a:r>
            <a:r>
              <a:rPr lang="es-AR" sz="1200" dirty="0" err="1">
                <a:solidFill>
                  <a:schemeClr val="accent6"/>
                </a:solidFill>
              </a:rPr>
              <a:t>build</a:t>
            </a:r>
            <a:r>
              <a:rPr lang="es-AR" sz="1200" dirty="0">
                <a:solidFill>
                  <a:schemeClr val="accent6"/>
                </a:solidFill>
              </a:rPr>
              <a:t>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Configurar el desencadenador para que inicie el despliegue al generar un nuevo artefacto.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Configurar tareas de despliegue: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Seleccionar el recurso de destino (Web App en Azure).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Configurar la conexión de servicio con Azure (</a:t>
            </a:r>
            <a:r>
              <a:rPr lang="es-AR" sz="1200" dirty="0" err="1">
                <a:solidFill>
                  <a:schemeClr val="accent6"/>
                </a:solidFill>
              </a:rPr>
              <a:t>Service</a:t>
            </a:r>
            <a:r>
              <a:rPr lang="es-AR" sz="1200" dirty="0">
                <a:solidFill>
                  <a:schemeClr val="accent6"/>
                </a:solidFill>
              </a:rPr>
              <a:t> </a:t>
            </a:r>
            <a:r>
              <a:rPr lang="es-AR" sz="1200" dirty="0" err="1">
                <a:solidFill>
                  <a:schemeClr val="accent6"/>
                </a:solidFill>
              </a:rPr>
              <a:t>connection</a:t>
            </a:r>
            <a:r>
              <a:rPr lang="es-AR" sz="1200" dirty="0">
                <a:solidFill>
                  <a:schemeClr val="accent6"/>
                </a:solidFill>
              </a:rPr>
              <a:t>).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Elegir el tipo de despliegue (Web App </a:t>
            </a:r>
            <a:r>
              <a:rPr lang="es-AR" sz="1200" dirty="0" err="1">
                <a:solidFill>
                  <a:schemeClr val="accent6"/>
                </a:solidFill>
              </a:rPr>
              <a:t>on</a:t>
            </a:r>
            <a:r>
              <a:rPr lang="es-AR" sz="1200" dirty="0">
                <a:solidFill>
                  <a:schemeClr val="accent6"/>
                </a:solidFill>
              </a:rPr>
              <a:t> Windows o Linux).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Ejecutar despliegue y verificar la publicación en la Web App.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Monitorización y Logs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Cómo monitorear el progreso de un despliegue.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Revisión de logs y solución de problemas comunes.</a:t>
            </a:r>
          </a:p>
          <a:p>
            <a:pPr marL="637794" lvl="1" indent="-171450">
              <a:buFont typeface="Arial" panose="020B0604020202020204" pitchFamily="34" charset="0"/>
              <a:buChar char="•"/>
            </a:pPr>
            <a:r>
              <a:rPr lang="es-AR" sz="1200" dirty="0">
                <a:solidFill>
                  <a:schemeClr val="accent6"/>
                </a:solidFill>
              </a:rPr>
              <a:t>Alertas y notificaciones para fallos y éxitos.</a:t>
            </a:r>
          </a:p>
        </p:txBody>
      </p:sp>
      <p:pic>
        <p:nvPicPr>
          <p:cNvPr id="28" name="Graphic 25" descr="Icono de Azure Pipelines">
            <a:extLst>
              <a:ext uri="{FF2B5EF4-FFF2-40B4-BE49-F238E27FC236}">
                <a16:creationId xmlns:a16="http://schemas.microsoft.com/office/drawing/2014/main" id="{4F6F6AF2-D26A-BB39-E6FC-F96FF9095E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9491986" y="59882"/>
            <a:ext cx="2670634" cy="75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3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227014"/>
            <a:ext cx="11563350" cy="754061"/>
          </a:xfrm>
        </p:spPr>
        <p:txBody>
          <a:bodyPr/>
          <a:lstStyle/>
          <a:p>
            <a:r>
              <a:rPr lang="es-AR" dirty="0"/>
              <a:t>Escenario de Ejemplo Parte 2</a:t>
            </a:r>
            <a:endParaRPr lang="en-US" dirty="0">
              <a:solidFill>
                <a:srgbClr val="2C65E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D34CA-2892-4FF4-9588-C6A35829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129" y="972295"/>
            <a:ext cx="9541138" cy="544162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Configurar entorno de Producción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AB4B1E4-ACC7-113A-534F-D5AA9F02CFF7}"/>
              </a:ext>
            </a:extLst>
          </p:cNvPr>
          <p:cNvGrpSpPr/>
          <p:nvPr/>
        </p:nvGrpSpPr>
        <p:grpSpPr>
          <a:xfrm>
            <a:off x="434975" y="1437164"/>
            <a:ext cx="555298" cy="555298"/>
            <a:chOff x="167479" y="1848020"/>
            <a:chExt cx="555298" cy="55529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03B4F4-BD54-418F-ABEC-9DA56768E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7479" y="1848020"/>
              <a:ext cx="555298" cy="555298"/>
            </a:xfrm>
            <a:prstGeom prst="ellipse">
              <a:avLst/>
            </a:prstGeom>
            <a:solidFill>
              <a:srgbClr val="EAEAEA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240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Graphic 25" descr="Icono de Resultados">
              <a:extLst>
                <a:ext uri="{FF2B5EF4-FFF2-40B4-BE49-F238E27FC236}">
                  <a16:creationId xmlns:a16="http://schemas.microsoft.com/office/drawing/2014/main" id="{F45F61C2-0DBB-978B-E41A-359C1B3BCE9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/>
          </p:blipFill>
          <p:spPr>
            <a:xfrm>
              <a:off x="296953" y="1971462"/>
              <a:ext cx="290276" cy="290276"/>
            </a:xfrm>
            <a:prstGeom prst="rect">
              <a:avLst/>
            </a:prstGeom>
          </p:spPr>
        </p:pic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E4DBB1B5-01F5-4F72-64C8-516A2B7B7E57}"/>
              </a:ext>
            </a:extLst>
          </p:cNvPr>
          <p:cNvSpPr txBox="1"/>
          <p:nvPr/>
        </p:nvSpPr>
        <p:spPr>
          <a:xfrm>
            <a:off x="1051227" y="1453973"/>
            <a:ext cx="6387125" cy="5447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Pasos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ADA1BEB-7AB9-A07A-E33E-E9D2A4C28C38}"/>
              </a:ext>
            </a:extLst>
          </p:cNvPr>
          <p:cNvSpPr txBox="1"/>
          <p:nvPr/>
        </p:nvSpPr>
        <p:spPr>
          <a:xfrm>
            <a:off x="1051775" y="1851005"/>
            <a:ext cx="8115374" cy="126496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>
                <a:solidFill>
                  <a:srgbClr val="595959"/>
                </a:solidFill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Duplicar el recurso </a:t>
            </a:r>
            <a:r>
              <a:rPr lang="es-AR" dirty="0" err="1"/>
              <a:t>WebApp</a:t>
            </a:r>
            <a:endParaRPr lang="es-A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Agregar un nuevo </a:t>
            </a:r>
            <a:r>
              <a:rPr lang="es-AR" dirty="0" err="1"/>
              <a:t>Stage</a:t>
            </a:r>
            <a:endParaRPr lang="es-A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Configurarlo para que despliegue en la App de PROD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dirty="0"/>
              <a:t>Agregar Aprobaciones Manuales</a:t>
            </a:r>
          </a:p>
        </p:txBody>
      </p:sp>
      <p:pic>
        <p:nvPicPr>
          <p:cNvPr id="28" name="Graphic 25" descr="Icono de Azure Pipelines">
            <a:extLst>
              <a:ext uri="{FF2B5EF4-FFF2-40B4-BE49-F238E27FC236}">
                <a16:creationId xmlns:a16="http://schemas.microsoft.com/office/drawing/2014/main" id="{4F6F6AF2-D26A-BB39-E6FC-F96FF9095E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9491986" y="59882"/>
            <a:ext cx="2670634" cy="75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2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4" y="227014"/>
            <a:ext cx="11802421" cy="754061"/>
          </a:xfrm>
        </p:spPr>
        <p:txBody>
          <a:bodyPr/>
          <a:lstStyle/>
          <a:p>
            <a:r>
              <a:rPr lang="es-AR" dirty="0"/>
              <a:t>Demo: Creación de un Pipeline de </a:t>
            </a:r>
            <a:r>
              <a:rPr lang="es-AR" dirty="0" err="1"/>
              <a:t>Release</a:t>
            </a:r>
            <a:r>
              <a:rPr lang="es-AR" dirty="0"/>
              <a:t> en Azure DevOps</a:t>
            </a:r>
            <a:endParaRPr lang="en-US" dirty="0">
              <a:solidFill>
                <a:srgbClr val="2C65E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D34CA-2892-4FF4-9588-C6A35829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9452" y="4363783"/>
            <a:ext cx="8793464" cy="5441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Demostración guiada paso a Paso para Configurar un Pipeline y Automatizar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Releases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Iniciaremos con un pipeline básico, luego agregaremos el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deploy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producción y luego agregaremos aprobación manual del pase a </a:t>
            </a:r>
            <a:r>
              <a:rPr lang="es-A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Prod</a:t>
            </a: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s-A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 hacerlo a medida que se demuestra, tienen los pasos documentados.</a:t>
            </a:r>
          </a:p>
          <a:p>
            <a:pPr>
              <a:lnSpc>
                <a:spcPct val="100000"/>
              </a:lnSpc>
            </a:pPr>
            <a:r>
              <a:rPr lang="es-AR" sz="1800" b="1" dirty="0">
                <a:solidFill>
                  <a:srgbClr val="FF0000"/>
                </a:solidFill>
              </a:rPr>
              <a:t>Prestar atención y preguntar dudas</a:t>
            </a:r>
            <a:endParaRPr lang="en-US" sz="1800" b="1" dirty="0">
              <a:solidFill>
                <a:srgbClr val="FF0000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380FFF8-722E-A863-F0A5-558D5BC36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14999" y="1233024"/>
            <a:ext cx="4842370" cy="278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4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4" y="227014"/>
            <a:ext cx="11802421" cy="754061"/>
          </a:xfrm>
        </p:spPr>
        <p:txBody>
          <a:bodyPr/>
          <a:lstStyle/>
          <a:p>
            <a:r>
              <a:rPr lang="es-AR" dirty="0"/>
              <a:t>Presentación del TP</a:t>
            </a:r>
            <a:endParaRPr lang="en-US" dirty="0">
              <a:solidFill>
                <a:srgbClr val="2C65E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380FFF8-722E-A863-F0A5-558D5BC36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4787248" y="1661287"/>
            <a:ext cx="3097871" cy="278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9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6A65AD-43AA-423E-8D08-19A36B57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4" y="227014"/>
            <a:ext cx="11802421" cy="754061"/>
          </a:xfrm>
        </p:spPr>
        <p:txBody>
          <a:bodyPr/>
          <a:lstStyle/>
          <a:p>
            <a:r>
              <a:rPr lang="es-AR" dirty="0"/>
              <a:t>Espacio para preguntas, dudas y consultas</a:t>
            </a:r>
            <a:endParaRPr lang="en-US" dirty="0">
              <a:solidFill>
                <a:srgbClr val="2C65E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6380FFF8-722E-A863-F0A5-558D5BC36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3836785" y="1910896"/>
            <a:ext cx="4762904" cy="31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0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00000000-0000-0000-0000-000000000000"/>
  <p:tag name="SLIDO_EVENT_UUID" val="12daea85-6777-4db6-a39c-7d0859b1c525"/>
  <p:tag name="SLIDO_EVENT_SECTION_UUID" val="031147da-702f-4534-87a9-c94f1e4bc2a6"/>
</p:tagLst>
</file>

<file path=ppt/theme/theme1.xml><?xml version="1.0" encoding="utf-8"?>
<a:theme xmlns:a="http://schemas.openxmlformats.org/drawingml/2006/main" name="Azure PPT Template - 2018">
  <a:themeElements>
    <a:clrScheme name="Azure DevOps">
      <a:dk1>
        <a:srgbClr val="000000"/>
      </a:dk1>
      <a:lt1>
        <a:srgbClr val="FFFFFF"/>
      </a:lt1>
      <a:dk2>
        <a:srgbClr val="0078D7"/>
      </a:dk2>
      <a:lt2>
        <a:srgbClr val="FFFFFF"/>
      </a:lt2>
      <a:accent1>
        <a:srgbClr val="0078D7"/>
      </a:accent1>
      <a:accent2>
        <a:srgbClr val="4DB0FF"/>
      </a:accent2>
      <a:accent3>
        <a:srgbClr val="B1D6F2"/>
      </a:accent3>
      <a:accent4>
        <a:srgbClr val="035AA0"/>
      </a:accent4>
      <a:accent5>
        <a:srgbClr val="94D0FF"/>
      </a:accent5>
      <a:accent6>
        <a:srgbClr val="797979"/>
      </a:accent6>
      <a:hlink>
        <a:srgbClr val="0078D7"/>
      </a:hlink>
      <a:folHlink>
        <a:srgbClr val="0078D7"/>
      </a:folHlink>
    </a:clrScheme>
    <a:fontScheme name="Custom 2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zure PPT Template 2018 presentation_v3" id="{1968021E-D85B-4A85-BB07-6BF24CCBC27F}" vid="{6E53F19A-D2E9-48F2-9B61-183D930FD7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conOverlay xmlns="http://schemas.microsoft.com/sharepoint/v4" xsi:nil="true"/>
    <Preview xmlns="15c98cf3-0896-4040-874f-f436925621df">
      <Url xsi:nil="true"/>
      <Description xsi:nil="true"/>
    </Preview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F187B9059DF945B25AB5B2F3BA0895" ma:contentTypeVersion="17" ma:contentTypeDescription="Create a new document." ma:contentTypeScope="" ma:versionID="454b11af52e6a4a001d7a94430b0600d">
  <xsd:schema xmlns:xsd="http://www.w3.org/2001/XMLSchema" xmlns:xs="http://www.w3.org/2001/XMLSchema" xmlns:p="http://schemas.microsoft.com/office/2006/metadata/properties" xmlns:ns1="http://schemas.microsoft.com/sharepoint/v3" xmlns:ns2="af610f50-4aee-43ff-9d65-64420adb70d2" xmlns:ns3="http://schemas.microsoft.com/sharepoint/v4" xmlns:ns4="15c98cf3-0896-4040-874f-f436925621df" targetNamespace="http://schemas.microsoft.com/office/2006/metadata/properties" ma:root="true" ma:fieldsID="94f54606d29a996f622cc5db0382967e" ns1:_="" ns2:_="" ns3:_="" ns4:_="">
    <xsd:import namespace="http://schemas.microsoft.com/sharepoint/v3"/>
    <xsd:import namespace="af610f50-4aee-43ff-9d65-64420adb70d2"/>
    <xsd:import namespace="http://schemas.microsoft.com/sharepoint/v4"/>
    <xsd:import namespace="15c98cf3-0896-4040-874f-f436925621d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3:IconOverlay" minOccurs="0"/>
                <xsd:element ref="ns1:_ip_UnifiedCompliancePolicyProperties" minOccurs="0"/>
                <xsd:element ref="ns1:_ip_UnifiedCompliancePolicyUIAction" minOccurs="0"/>
                <xsd:element ref="ns2:LastSharedByUser" minOccurs="0"/>
                <xsd:element ref="ns2:LastSharedByTime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Preview" minOccurs="0"/>
                <xsd:element ref="ns4:MediaServiceEventHashCode" minOccurs="0"/>
                <xsd:element ref="ns4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10f50-4aee-43ff-9d65-64420adb70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c98cf3-0896-4040-874f-f43692562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8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9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20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21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Preview" ma:index="22" nillable="true" ma:displayName="Preview" ma:format="Image" ma:internalName="Preview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A15399-885A-441B-A114-CB6E80EBF6A5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15c98cf3-0896-4040-874f-f436925621df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sharepoint/v3"/>
    <ds:schemaRef ds:uri="http://purl.org/dc/elements/1.1/"/>
    <ds:schemaRef ds:uri="http://schemas.microsoft.com/office/2006/metadata/properties"/>
    <ds:schemaRef ds:uri="http://schemas.microsoft.com/sharepoint/v4"/>
    <ds:schemaRef ds:uri="af610f50-4aee-43ff-9d65-64420adb70d2"/>
  </ds:schemaRefs>
</ds:datastoreItem>
</file>

<file path=customXml/itemProps2.xml><?xml version="1.0" encoding="utf-8"?>
<ds:datastoreItem xmlns:ds="http://schemas.openxmlformats.org/officeDocument/2006/customXml" ds:itemID="{366A0CB4-B94D-48B7-AE6B-3133538C8C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f610f50-4aee-43ff-9d65-64420adb70d2"/>
    <ds:schemaRef ds:uri="http://schemas.microsoft.com/sharepoint/v4"/>
    <ds:schemaRef ds:uri="15c98cf3-0896-4040-874f-f436925621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CFF515-FEE6-4B9C-8B96-C300A00633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4477</TotalTime>
  <Words>774</Words>
  <Application>Microsoft Macintosh PowerPoint</Application>
  <PresentationFormat>Personalizado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Raleway</vt:lpstr>
      <vt:lpstr>Segoe UI</vt:lpstr>
      <vt:lpstr>Segoe UI Semibold</vt:lpstr>
      <vt:lpstr>Source Sans Pro</vt:lpstr>
      <vt:lpstr>Wingdings</vt:lpstr>
      <vt:lpstr>Azure PPT Template - 2018</vt:lpstr>
      <vt:lpstr>Presentación de PowerPoint</vt:lpstr>
      <vt:lpstr>Azure DevOps  Pipelines </vt:lpstr>
      <vt:lpstr>Objetivo de la Sesión</vt:lpstr>
      <vt:lpstr>Qué es un Release Pipeline?</vt:lpstr>
      <vt:lpstr>Componentes de un Release Pipeline</vt:lpstr>
      <vt:lpstr>Escenario de Ejemplo</vt:lpstr>
      <vt:lpstr>Escenario de Ejemplo Parte 2</vt:lpstr>
      <vt:lpstr>Demo: Creación de un Pipeline de Release en Azure DevOps</vt:lpstr>
      <vt:lpstr>Presentación del TP</vt:lpstr>
      <vt:lpstr>Espacio para preguntas, dudas y consultas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 presentation title and event name</dc:title>
  <dc:creator>Martin Woodward</dc:creator>
  <cp:keywords/>
  <cp:lastModifiedBy>Ariel Schwindt</cp:lastModifiedBy>
  <cp:revision>81</cp:revision>
  <dcterms:modified xsi:type="dcterms:W3CDTF">2025-08-31T16:07:05Z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0x010100F5F187B9059DF945B25AB5B2F3BA0895</vt:lpwstr>
  </property>
  <property fmtid="{D5CDD505-2E9C-101B-9397-08002B2CF9AE}" pid="3" name="DocVizMetadataToken">
    <vt:lpwstr>600x450x1</vt:lpwstr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iteId">
    <vt:lpwstr>72f988bf-86f1-41af-91ab-2d7cd011db47</vt:lpwstr>
  </property>
  <property fmtid="{D5CDD505-2E9C-101B-9397-08002B2CF9AE}" pid="6" name="MSIP_Label_f42aa342-8706-4288-bd11-ebb85995028c_Owner">
    <vt:lpwstr>v-juchri@microsoft.com</vt:lpwstr>
  </property>
  <property fmtid="{D5CDD505-2E9C-101B-9397-08002B2CF9AE}" pid="7" name="MSIP_Label_f42aa342-8706-4288-bd11-ebb85995028c_SetDate">
    <vt:lpwstr>2018-02-23T23:28:10.4033600Z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pplication">
    <vt:lpwstr>Microsoft Azure Information Protection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</Properties>
</file>